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this presentation on Patient Safety Technology. Today we'll explore how modern technology is transforming patient safety in healthcare settings. This session will cover key technologies, their benefits, and implementation strategies that you can apply in your practice. Patient safety is everyone's responsibility, and technology provides powerful tools to help us deliver safer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Medical errors remain a significant challenge in healthcare, representing one of the leading causes of death in hospitals. According to Johns Hopkins research, over 250,000 deaths annually can be attributed to medical errors in the United States alone. Medication errors affect approximately 1 in 5 patients, and healthcare-associated infections continue to impact millions of patients worldwide. These preventable adverse events cost healthcare systems billions of dollars each year. The good news is that technology can help us address these challenges systematically and effectively.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Modern healthcare technology provides multiple layers of protection for patients. Technology helps us prevent errors before they occur through built-in safety checks and alerts. It enables real-time detection of potential issues, allowing for immediate intervention. When problems do arise, technology facilitates rapid response and coordination among care teams. Think of technology as creating a safety net with multiple interconnected strands - if one layer fails, others are there to catch potential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Electronic Health Records are foundational to modern patient safety. EHRs provide real-time access to complete patient history, enabling informed clinical decisions at the point of care. Built-in drug interaction alerts and allergy warnings help prevent medication errors. Clinical decision support systems embedded in EHRs guide evidence-based care. Studies show that comprehensive EHR implementation can reduce medication errors by 30 to 50 percent. Additionally, EHRs reduce duplicate testing and improve care coordination across multiple providers and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Barcode Medication Administration systems are critical for ensuring the five rights of medication administration. Before any medication is given, the system verifies: Right Patient, Right Drug, Right Dose, Right Route, and Right Time. The nurse scans the patient's wristband and the medication barcode, and the system immediately alerts if there's any mismatch. Smart infusion pumps add another layer of safety by preventing programming errors and alerting on dangerous dosing. Automated dispensing cabinets control medication access and track usage, reducing diversion and expired medication risks. These integrated systems work together to create multiple checkpoints in the medication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Accurate patient identification is fundamental to all aspects of safe care delivery. Wristband barcodes enable quick, reliable patient identification at every interaction. RFID technology can track patient location and movement throughout the facility. Biometric systems like fingerprint or palm vein scanning provide the highest level of identification accuracy. Photo identification systems help staff visually confirm patient identity. Remember, always use at least two patient identifiers before administering medications, blood products, or performing procedures. These technologies support the Joint Commission's Universal Protocol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Patient falls are the number one cause of hospital-related injuries, particularly among elderly patients. Modern fall prevention technology includes bed and chair sensors that detect when patients attempt to get up. Wearable devices can monitor patient gait and balance, predicting fall risk. Video monitoring systems with artificial intelligence can detect unusual movements and alert staff immediately. Floor pressure sensors in bathrooms and high-risk areas provide additional monitoring. These systems allow nursing staff to intervene proactively, preventing falls before they occur. When implementing these technologies, ensure proper staff training and integrate alerts into existing workflow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Healthcare-associated infections remain a persistent safety challenge, but technology is helping us make significant progress. Automated hand hygiene monitoring systems track compliance and provide real-time feedback to healthcare workers. UV disinfection technology verifies environmental cleaning effectiveness. Sensors monitor temperature, humidity, and air quality - all factors that affect infection transmission. Contact tracing systems help identify exposure patterns during outbreaks. Research shows that comprehensive monitoring technology can reduce healthcare-associated infections by 20 to 40 percent. These systems work best when combined with strong infection prevention protocols and a culture of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Effective communication is essential for safe patient care, and technology has transformed how care teams communicate. Secure messaging platforms enable HIPAA-compliant instant communication for care coordination. Critical alert systems ensure urgent notifications reach the right clinician immediately, with escalation if there's no response. Video telehealth capabilities allow remote specialist consultation, bringing expertise to the bedside instantly. These systems reduce delays in care, minimize miscommunication errors, and improve team coordination. Studies show that improving clinical communication through technology leads to faster response times and better patient outcomes. Ensure your communication systems integrate with your EHR and alert systems for seamless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analytics and machine learning are revolutionizing how we predict and prevent adverse events. Early warning scores analyze multiple patient parameters to predict clinical deterioration hours before it becomes obvious. Predictive models identify patients at high risk for readmission, enabling targeted interventions. Sepsis detection algorithms can identify this life-threatening condition earlier than traditional methods. Pattern analysis across large datasets helps identify systemic safety issues and opportunities for improvement. Staffing optimization tools match nurse expertise and patient acuity to improve care quality. The key is turning data into actionable insights that clinicians can use at the point of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Successful technology implementation requires careful planning and execution. Staff training is crucial - provide comprehensive initial education and ongoing support for all users. Workflow integration means designing technology solutions that fit naturally into clinical processes, not forcing staff to adapt to awkward systems. Continuous monitoring of safety metrics helps you understand what's working and what needs adjustment. Most importantly, foster a culture of safety where leadership demonstrates commitment and staff feel empowered to report issues without fear. Remember that technology is only as effective as the people using it. Engage frontline staff early in the selection and implementation process to ensure buy-in and practical applicability.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emerging technologies promise even greater advances in patient safety. AI-powered clinical decision support will provide increasingly sophisticated guidance for complex clinical decisions. The Internet of Medical Things will create interconnected monitoring systems that provide comprehensive patient surveillance. Blockchain technology may secure health data while enabling seamless information sharing across healthcare systems. Augmented reality will guide clinicians through complex procedures with real-time visual guidance. However, remember that technology enhances but never replaces human expertise, compassion, and clinical judgment. The future of patient safety lies in the synergy between advanced technology and skilled healthcare professionals. Thank you for your attention. Are there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191007" y="1383060"/>
            <a:ext cx="6761836" cy="533400"/>
          </a:xfrm>
          <a:prstGeom prst="rect">
            <a:avLst/>
          </a:prstGeom>
          <a:noFill/>
          <a:ln/>
        </p:spPr>
        <p:txBody>
          <a:bodyPr wrap="square" lIns="0" tIns="0" rIns="0" bIns="0" rtlCol="0" anchor="t"/>
          <a:lstStyle/>
          <a:p>
            <a:pPr algn="ctr" indent="0" marL="0">
              <a:lnSpc>
                <a:spcPts val="4200"/>
              </a:lnSpc>
              <a:buNone/>
            </a:pPr>
            <a:r>
              <a:rPr lang="en-US" sz="4200" b="1" dirty="0">
                <a:solidFill>
                  <a:srgbClr val="FFFFFF"/>
                </a:solidFill>
                <a:latin typeface="Arial" pitchFamily="34" charset="0"/>
                <a:ea typeface="Arial" pitchFamily="34" charset="-122"/>
                <a:cs typeface="Arial" pitchFamily="34" charset="-120"/>
              </a:rPr>
              <a:t>Patient Safety Technology</a:t>
            </a:r>
            <a:endParaRPr lang="en-US" sz="4200" dirty="0"/>
          </a:p>
        </p:txBody>
      </p:sp>
      <p:sp>
        <p:nvSpPr>
          <p:cNvPr id="3" name="Text 1"/>
          <p:cNvSpPr/>
          <p:nvPr/>
        </p:nvSpPr>
        <p:spPr>
          <a:xfrm>
            <a:off x="1925742" y="2297460"/>
            <a:ext cx="5292367" cy="426690"/>
          </a:xfrm>
          <a:prstGeom prst="rect">
            <a:avLst/>
          </a:prstGeom>
          <a:noFill/>
          <a:ln/>
        </p:spPr>
        <p:txBody>
          <a:bodyPr wrap="square" lIns="0" tIns="0" rIns="0" bIns="0" rtlCol="0" anchor="t"/>
          <a:lstStyle/>
          <a:p>
            <a:pPr algn="ctr" indent="0" marL="0">
              <a:lnSpc>
                <a:spcPts val="3360"/>
              </a:lnSpc>
              <a:spcBef>
                <a:spcPts val="1800"/>
              </a:spcBef>
              <a:buNone/>
            </a:pPr>
            <a:r>
              <a:rPr lang="en-US" sz="2100" dirty="0">
                <a:solidFill>
                  <a:srgbClr val="F8F9FA"/>
                </a:solidFill>
                <a:latin typeface="Arial" pitchFamily="34" charset="0"/>
                <a:ea typeface="Arial" pitchFamily="34" charset="-122"/>
                <a:cs typeface="Arial" pitchFamily="34" charset="-120"/>
              </a:rPr>
              <a:t>Modern Solutions for Healthcare Excellence</a:t>
            </a:r>
            <a:endParaRPr lang="en-US" sz="2100" dirty="0"/>
          </a:p>
        </p:txBody>
      </p:sp>
      <p:sp>
        <p:nvSpPr>
          <p:cNvPr id="4" name="Text 2"/>
          <p:cNvSpPr/>
          <p:nvPr/>
        </p:nvSpPr>
        <p:spPr>
          <a:xfrm>
            <a:off x="2501536" y="3486150"/>
            <a:ext cx="4140928" cy="274290"/>
          </a:xfrm>
          <a:prstGeom prst="rect">
            <a:avLst/>
          </a:prstGeom>
          <a:noFill/>
          <a:ln/>
        </p:spPr>
        <p:txBody>
          <a:bodyPr wrap="square" lIns="0" tIns="0" rIns="0" bIns="0" rtlCol="0" anchor="t"/>
          <a:lstStyle/>
          <a:p>
            <a:pPr algn="ctr" indent="0" marL="0">
              <a:lnSpc>
                <a:spcPts val="2160"/>
              </a:lnSpc>
              <a:buNone/>
            </a:pPr>
            <a:r>
              <a:rPr lang="en-US" sz="1350" dirty="0">
                <a:solidFill>
                  <a:srgbClr val="F8F9FA"/>
                </a:solidFill>
                <a:latin typeface="Arial" pitchFamily="34" charset="0"/>
                <a:ea typeface="Arial" pitchFamily="34" charset="-122"/>
                <a:cs typeface="Arial" pitchFamily="34" charset="-120"/>
              </a:rPr>
              <a:t>A Comprehensive Guide for Healthcare Professionals</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3840"/>
            <a:ext cx="4809173" cy="381000"/>
          </a:xfrm>
          <a:prstGeom prst="rect">
            <a:avLst/>
          </a:prstGeom>
          <a:noFill/>
          <a:ln/>
        </p:spPr>
        <p:txBody>
          <a:bodyPr wrap="square" lIns="0" tIns="0" rIns="0" bIns="0" rtlCol="0" anchor="t"/>
          <a:lstStyle/>
          <a:p>
            <a:pPr algn="l" indent="0" marL="0">
              <a:lnSpc>
                <a:spcPts val="3000"/>
              </a:lnSpc>
              <a:buNone/>
            </a:pPr>
            <a:r>
              <a:rPr lang="en-US" sz="2700" b="1" dirty="0">
                <a:solidFill>
                  <a:srgbClr val="16697A"/>
                </a:solidFill>
                <a:latin typeface="Arial" pitchFamily="34" charset="0"/>
                <a:ea typeface="Arial" pitchFamily="34" charset="-122"/>
                <a:cs typeface="Arial" pitchFamily="34" charset="-120"/>
              </a:rPr>
              <a:t>The Patient Safety Challenge</a:t>
            </a:r>
            <a:endParaRPr lang="en-US" sz="2700" dirty="0"/>
          </a:p>
        </p:txBody>
      </p:sp>
      <p:sp>
        <p:nvSpPr>
          <p:cNvPr id="3" name="Text 1"/>
          <p:cNvSpPr/>
          <p:nvPr/>
        </p:nvSpPr>
        <p:spPr>
          <a:xfrm>
            <a:off x="457200" y="1398240"/>
            <a:ext cx="8229600" cy="762000"/>
          </a:xfrm>
          <a:prstGeom prst="rect">
            <a:avLst/>
          </a:prstGeom>
          <a:solidFill>
            <a:srgbClr val="F8F9FA"/>
          </a:solidFill>
          <a:ln/>
        </p:spPr>
        <p:txBody>
          <a:bodyPr wrap="square" rtlCol="0" anchor="ctr"/>
          <a:lstStyle/>
          <a:p>
            <a:pPr indent="0" marL="0">
              <a:buNone/>
            </a:pPr>
            <a:endParaRPr lang="en-US" dirty="0"/>
          </a:p>
        </p:txBody>
      </p:sp>
      <p:sp>
        <p:nvSpPr>
          <p:cNvPr id="4" name="Shape 2"/>
          <p:cNvSpPr/>
          <p:nvPr/>
        </p:nvSpPr>
        <p:spPr>
          <a:xfrm>
            <a:off x="485775" y="1398240"/>
            <a:ext cx="0" cy="762000"/>
          </a:xfrm>
          <a:prstGeom prst="line">
            <a:avLst/>
          </a:prstGeom>
          <a:noFill/>
          <a:ln w="57150">
            <a:solidFill>
              <a:srgbClr val="FF6B6B"/>
            </a:solidFill>
            <a:prstDash val="solid"/>
          </a:ln>
        </p:spPr>
      </p:sp>
      <p:sp>
        <p:nvSpPr>
          <p:cNvPr id="5" name="Text 3"/>
          <p:cNvSpPr/>
          <p:nvPr/>
        </p:nvSpPr>
        <p:spPr>
          <a:xfrm>
            <a:off x="742950" y="1626840"/>
            <a:ext cx="7869555" cy="304800"/>
          </a:xfrm>
          <a:prstGeom prst="rect">
            <a:avLst/>
          </a:prstGeom>
          <a:noFill/>
          <a:ln/>
        </p:spPr>
        <p:txBody>
          <a:bodyPr wrap="square" lIns="0" tIns="0" rIns="0" bIns="0" rtlCol="0" anchor="t"/>
          <a:lstStyle/>
          <a:p>
            <a:pPr algn="l" indent="0" marL="0">
              <a:lnSpc>
                <a:spcPts val="2400"/>
              </a:lnSpc>
              <a:buNone/>
            </a:pPr>
            <a:r>
              <a:rPr lang="en-US" sz="1500" b="1" dirty="0">
                <a:solidFill>
                  <a:srgbClr val="FF6B6B"/>
                </a:solidFill>
                <a:latin typeface="Arial" pitchFamily="34" charset="0"/>
                <a:ea typeface="Arial" pitchFamily="34" charset="-122"/>
                <a:cs typeface="Arial" pitchFamily="34" charset="-120"/>
              </a:rPr>
              <a:t>Medical errors</a:t>
            </a:r>
            <a:pPr algn="l" indent="0" marL="0">
              <a:lnSpc>
                <a:spcPts val="2400"/>
              </a:lnSpc>
              <a:buNone/>
            </a:pPr>
            <a:r>
              <a:rPr lang="en-US" sz="1500" dirty="0">
                <a:solidFill>
                  <a:srgbClr val="2C3E50"/>
                </a:solidFill>
                <a:latin typeface="Arial" pitchFamily="34" charset="0"/>
                <a:ea typeface="Arial" pitchFamily="34" charset="-122"/>
                <a:cs typeface="Arial" pitchFamily="34" charset="-120"/>
              </a:rPr>
              <a:t> are a leading cause of harm in healthcare settings</a:t>
            </a:r>
            <a:endParaRPr lang="en-US" sz="1500" dirty="0"/>
          </a:p>
        </p:txBody>
      </p:sp>
      <p:sp>
        <p:nvSpPr>
          <p:cNvPr id="6" name="Text 4"/>
          <p:cNvSpPr/>
          <p:nvPr/>
        </p:nvSpPr>
        <p:spPr>
          <a:xfrm>
            <a:off x="457200" y="2769840"/>
            <a:ext cx="8394192" cy="251371"/>
          </a:xfrm>
          <a:prstGeom prst="rect">
            <a:avLst/>
          </a:prstGeom>
          <a:noFill/>
          <a:ln/>
        </p:spPr>
        <p:txBody>
          <a:bodyPr wrap="square" lIns="0" tIns="0" rIns="0" bIns="0" rtlCol="0" anchor="t"/>
          <a:lstStyle/>
          <a:p>
            <a:pPr algn="l" indent="0" marL="0">
              <a:lnSpc>
                <a:spcPts val="1980"/>
              </a:lnSpc>
              <a:buNone/>
            </a:pPr>
            <a:r>
              <a:rPr lang="en-US" sz="1650" b="1" dirty="0">
                <a:solidFill>
                  <a:srgbClr val="16697A"/>
                </a:solidFill>
                <a:latin typeface="Arial" pitchFamily="34" charset="0"/>
                <a:ea typeface="Arial" pitchFamily="34" charset="-122"/>
                <a:cs typeface="Arial" pitchFamily="34" charset="-120"/>
              </a:rPr>
              <a:t>Key Statistics</a:t>
            </a:r>
            <a:endParaRPr lang="en-US" sz="1650" dirty="0"/>
          </a:p>
        </p:txBody>
      </p:sp>
      <p:sp>
        <p:nvSpPr>
          <p:cNvPr id="7" name="Text 5"/>
          <p:cNvSpPr/>
          <p:nvPr/>
        </p:nvSpPr>
        <p:spPr>
          <a:xfrm>
            <a:off x="457200" y="3478411"/>
            <a:ext cx="8229600" cy="1181100"/>
          </a:xfrm>
          <a:prstGeom prst="rect">
            <a:avLst/>
          </a:prstGeom>
          <a:noFill/>
          <a:ln/>
        </p:spPr>
        <p:txBody>
          <a:bodyPr wrap="square" lIns="85725" tIns="0" rIns="0" bIns="0" rtlCol="0" anchor="t"/>
          <a:lstStyle/>
          <a:p>
            <a:pPr algn="l" marL="85725" indent="-85725">
              <a:lnSpc>
                <a:spcPts val="2100"/>
              </a:lnSpc>
              <a:buSzPct val="100000"/>
              <a:buChar char="•"/>
            </a:pPr>
            <a:r>
              <a:rPr lang="en-US" sz="1350" dirty="0">
                <a:solidFill>
                  <a:srgbClr val="2C3E50"/>
                </a:solidFill>
                <a:latin typeface="Arial" pitchFamily="34" charset="0"/>
                <a:ea typeface="Arial" pitchFamily="34" charset="-122"/>
                <a:cs typeface="Arial" pitchFamily="34" charset="-120"/>
              </a:rPr>
              <a:t>Over 250,000 deaths annually attributed to medical errors</a:t>
            </a:r>
            <a:endParaRPr lang="en-US" sz="1350" dirty="0"/>
          </a:p>
          <a:p>
            <a:pPr algn="l" marL="85725" indent="-85725">
              <a:lnSpc>
                <a:spcPts val="2100"/>
              </a:lnSpc>
              <a:buSzPct val="100000"/>
              <a:buChar char="•"/>
            </a:pPr>
            <a:r>
              <a:rPr lang="en-US" sz="1350" dirty="0">
                <a:solidFill>
                  <a:srgbClr val="2C3E50"/>
                </a:solidFill>
                <a:latin typeface="Arial" pitchFamily="34" charset="0"/>
                <a:ea typeface="Arial" pitchFamily="34" charset="-122"/>
                <a:cs typeface="Arial" pitchFamily="34" charset="-120"/>
              </a:rPr>
              <a:t>Medication errors affect 1 in 5 patients</a:t>
            </a:r>
            <a:endParaRPr lang="en-US" sz="1350" dirty="0"/>
          </a:p>
          <a:p>
            <a:pPr algn="l" marL="85725" indent="-85725">
              <a:lnSpc>
                <a:spcPts val="2100"/>
              </a:lnSpc>
              <a:buSzPct val="100000"/>
              <a:buChar char="•"/>
            </a:pPr>
            <a:r>
              <a:rPr lang="en-US" sz="1350" dirty="0">
                <a:solidFill>
                  <a:srgbClr val="2C3E50"/>
                </a:solidFill>
                <a:latin typeface="Arial" pitchFamily="34" charset="0"/>
                <a:ea typeface="Arial" pitchFamily="34" charset="-122"/>
                <a:cs typeface="Arial" pitchFamily="34" charset="-120"/>
              </a:rPr>
              <a:t>Healthcare-associated infections impact millions</a:t>
            </a:r>
            <a:endParaRPr lang="en-US" sz="1350" dirty="0"/>
          </a:p>
          <a:p>
            <a:pPr algn="l" marL="85725" indent="-85725">
              <a:lnSpc>
                <a:spcPts val="2100"/>
              </a:lnSpc>
              <a:buSzPct val="100000"/>
              <a:buChar char="•"/>
            </a:pPr>
            <a:r>
              <a:rPr lang="en-US" sz="1350" dirty="0">
                <a:solidFill>
                  <a:srgbClr val="2C3E50"/>
                </a:solidFill>
                <a:latin typeface="Arial" pitchFamily="34" charset="0"/>
                <a:ea typeface="Arial" pitchFamily="34" charset="-122"/>
                <a:cs typeface="Arial" pitchFamily="34" charset="-120"/>
              </a:rPr>
              <a:t>Preventable adverse events cost billions in healthcare spending</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078260"/>
            <a:ext cx="5887593" cy="381000"/>
          </a:xfrm>
          <a:prstGeom prst="rect">
            <a:avLst/>
          </a:prstGeom>
          <a:noFill/>
          <a:ln/>
        </p:spPr>
        <p:txBody>
          <a:bodyPr wrap="square" lIns="0" tIns="0" rIns="0" bIns="0" rtlCol="0" anchor="t"/>
          <a:lstStyle/>
          <a:p>
            <a:pPr algn="l" indent="0" marL="0">
              <a:lnSpc>
                <a:spcPts val="3000"/>
              </a:lnSpc>
              <a:buNone/>
            </a:pPr>
            <a:r>
              <a:rPr lang="en-US" sz="2700" b="1" dirty="0">
                <a:solidFill>
                  <a:srgbClr val="16697A"/>
                </a:solidFill>
                <a:latin typeface="Arial" pitchFamily="34" charset="0"/>
                <a:ea typeface="Arial" pitchFamily="34" charset="-122"/>
                <a:cs typeface="Arial" pitchFamily="34" charset="-120"/>
              </a:rPr>
              <a:t>Technology's Role in Patient Safety</a:t>
            </a:r>
            <a:endParaRPr lang="en-US" sz="2700" dirty="0"/>
          </a:p>
        </p:txBody>
      </p:sp>
      <p:sp>
        <p:nvSpPr>
          <p:cNvPr id="3" name="Text 1"/>
          <p:cNvSpPr/>
          <p:nvPr/>
        </p:nvSpPr>
        <p:spPr>
          <a:xfrm>
            <a:off x="457200" y="2068860"/>
            <a:ext cx="8394192" cy="304800"/>
          </a:xfrm>
          <a:prstGeom prst="rect">
            <a:avLst/>
          </a:prstGeom>
          <a:noFill/>
          <a:ln/>
        </p:spPr>
        <p:txBody>
          <a:bodyPr wrap="square" lIns="0" tIns="0" rIns="0" bIns="0" rtlCol="0" anchor="t"/>
          <a:lstStyle/>
          <a:p>
            <a:pPr algn="l" indent="0" marL="0">
              <a:lnSpc>
                <a:spcPts val="2400"/>
              </a:lnSpc>
              <a:buNone/>
            </a:pPr>
            <a:r>
              <a:rPr lang="en-US" sz="1500" dirty="0">
                <a:solidFill>
                  <a:srgbClr val="95A5A6"/>
                </a:solidFill>
                <a:latin typeface="Arial" pitchFamily="34" charset="0"/>
                <a:ea typeface="Arial" pitchFamily="34" charset="-122"/>
                <a:cs typeface="Arial" pitchFamily="34" charset="-120"/>
              </a:rPr>
              <a:t>Modern healthcare technology provides multiple layers of protection</a:t>
            </a:r>
            <a:endParaRPr lang="en-US" sz="1500" dirty="0"/>
          </a:p>
        </p:txBody>
      </p:sp>
      <p:sp>
        <p:nvSpPr>
          <p:cNvPr id="4" name="Text 2"/>
          <p:cNvSpPr/>
          <p:nvPr/>
        </p:nvSpPr>
        <p:spPr>
          <a:xfrm>
            <a:off x="457200" y="2983260"/>
            <a:ext cx="2430959" cy="1081980"/>
          </a:xfrm>
          <a:prstGeom prst="roundRect">
            <a:avLst>
              <a:gd name="adj" fmla="val 7043"/>
            </a:avLst>
          </a:prstGeom>
          <a:solidFill>
            <a:srgbClr val="F8F9FA"/>
          </a:solidFill>
          <a:ln/>
        </p:spPr>
        <p:txBody>
          <a:bodyPr wrap="square" rtlCol="0" anchor="ctr"/>
          <a:lstStyle/>
          <a:p>
            <a:pPr indent="0" marL="0">
              <a:buNone/>
            </a:pPr>
            <a:endParaRPr lang="en-US" dirty="0"/>
          </a:p>
        </p:txBody>
      </p:sp>
      <p:sp>
        <p:nvSpPr>
          <p:cNvPr id="5" name="Text 3"/>
          <p:cNvSpPr/>
          <p:nvPr/>
        </p:nvSpPr>
        <p:spPr>
          <a:xfrm>
            <a:off x="685800" y="3211860"/>
            <a:ext cx="2013234" cy="228600"/>
          </a:xfrm>
          <a:prstGeom prst="rect">
            <a:avLst/>
          </a:prstGeom>
          <a:noFill/>
          <a:ln/>
        </p:spPr>
        <p:txBody>
          <a:bodyPr wrap="square" lIns="0" tIns="0" rIns="0" bIns="0" rtlCol="0" anchor="t"/>
          <a:lstStyle/>
          <a:p>
            <a:pPr algn="l" indent="0" marL="0">
              <a:lnSpc>
                <a:spcPts val="1800"/>
              </a:lnSpc>
              <a:buNone/>
            </a:pPr>
            <a:r>
              <a:rPr lang="en-US" sz="1500" b="1" dirty="0">
                <a:solidFill>
                  <a:srgbClr val="16697A"/>
                </a:solidFill>
                <a:latin typeface="Arial" pitchFamily="34" charset="0"/>
                <a:ea typeface="Arial" pitchFamily="34" charset="-122"/>
                <a:cs typeface="Arial" pitchFamily="34" charset="-120"/>
              </a:rPr>
              <a:t>Prevention</a:t>
            </a:r>
            <a:endParaRPr lang="en-US" sz="1500" dirty="0"/>
          </a:p>
        </p:txBody>
      </p:sp>
      <p:sp>
        <p:nvSpPr>
          <p:cNvPr id="6" name="Text 4"/>
          <p:cNvSpPr/>
          <p:nvPr/>
        </p:nvSpPr>
        <p:spPr>
          <a:xfrm>
            <a:off x="685800" y="3592860"/>
            <a:ext cx="2013234" cy="243780"/>
          </a:xfrm>
          <a:prstGeom prst="rect">
            <a:avLst/>
          </a:prstGeom>
          <a:noFill/>
          <a:ln/>
        </p:spPr>
        <p:txBody>
          <a:bodyPr wrap="square" lIns="0" tIns="0" rIns="0" bIns="0" rtlCol="0" anchor="t"/>
          <a:lstStyle/>
          <a:p>
            <a:pPr algn="l" indent="0" marL="0">
              <a:lnSpc>
                <a:spcPts val="1920"/>
              </a:lnSpc>
              <a:buNone/>
            </a:pPr>
            <a:r>
              <a:rPr lang="en-US" sz="1200" dirty="0">
                <a:solidFill>
                  <a:srgbClr val="2C3E50"/>
                </a:solidFill>
                <a:latin typeface="Arial" pitchFamily="34" charset="0"/>
                <a:ea typeface="Arial" pitchFamily="34" charset="-122"/>
                <a:cs typeface="Arial" pitchFamily="34" charset="-120"/>
              </a:rPr>
              <a:t>Stop errors before they occur</a:t>
            </a:r>
            <a:endParaRPr lang="en-US" sz="1200" dirty="0"/>
          </a:p>
        </p:txBody>
      </p:sp>
      <p:sp>
        <p:nvSpPr>
          <p:cNvPr id="7" name="Text 5"/>
          <p:cNvSpPr/>
          <p:nvPr/>
        </p:nvSpPr>
        <p:spPr>
          <a:xfrm>
            <a:off x="3116759" y="2983260"/>
            <a:ext cx="2219027" cy="1081980"/>
          </a:xfrm>
          <a:prstGeom prst="roundRect">
            <a:avLst>
              <a:gd name="adj" fmla="val 7043"/>
            </a:avLst>
          </a:prstGeom>
          <a:solidFill>
            <a:srgbClr val="F8F9FA"/>
          </a:solidFill>
          <a:ln/>
        </p:spPr>
        <p:txBody>
          <a:bodyPr wrap="square" rtlCol="0" anchor="ctr"/>
          <a:lstStyle/>
          <a:p>
            <a:pPr indent="0" marL="0">
              <a:buNone/>
            </a:pPr>
            <a:endParaRPr lang="en-US" dirty="0"/>
          </a:p>
        </p:txBody>
      </p:sp>
      <p:sp>
        <p:nvSpPr>
          <p:cNvPr id="8" name="Text 6"/>
          <p:cNvSpPr/>
          <p:nvPr/>
        </p:nvSpPr>
        <p:spPr>
          <a:xfrm>
            <a:off x="3345359" y="3211860"/>
            <a:ext cx="1797064" cy="228600"/>
          </a:xfrm>
          <a:prstGeom prst="rect">
            <a:avLst/>
          </a:prstGeom>
          <a:noFill/>
          <a:ln/>
        </p:spPr>
        <p:txBody>
          <a:bodyPr wrap="square" lIns="0" tIns="0" rIns="0" bIns="0" rtlCol="0" anchor="t"/>
          <a:lstStyle/>
          <a:p>
            <a:pPr algn="l" indent="0" marL="0">
              <a:lnSpc>
                <a:spcPts val="1800"/>
              </a:lnSpc>
              <a:buNone/>
            </a:pPr>
            <a:r>
              <a:rPr lang="en-US" sz="1500" b="1" dirty="0">
                <a:solidFill>
                  <a:srgbClr val="16697A"/>
                </a:solidFill>
                <a:latin typeface="Arial" pitchFamily="34" charset="0"/>
                <a:ea typeface="Arial" pitchFamily="34" charset="-122"/>
                <a:cs typeface="Arial" pitchFamily="34" charset="-120"/>
              </a:rPr>
              <a:t>Detection</a:t>
            </a:r>
            <a:endParaRPr lang="en-US" sz="1500" dirty="0"/>
          </a:p>
        </p:txBody>
      </p:sp>
      <p:sp>
        <p:nvSpPr>
          <p:cNvPr id="9" name="Text 7"/>
          <p:cNvSpPr/>
          <p:nvPr/>
        </p:nvSpPr>
        <p:spPr>
          <a:xfrm>
            <a:off x="3345359" y="3592860"/>
            <a:ext cx="1797064" cy="243780"/>
          </a:xfrm>
          <a:prstGeom prst="rect">
            <a:avLst/>
          </a:prstGeom>
          <a:noFill/>
          <a:ln/>
        </p:spPr>
        <p:txBody>
          <a:bodyPr wrap="square" lIns="0" tIns="0" rIns="0" bIns="0" rtlCol="0" anchor="t"/>
          <a:lstStyle/>
          <a:p>
            <a:pPr algn="l" indent="0" marL="0">
              <a:lnSpc>
                <a:spcPts val="1920"/>
              </a:lnSpc>
              <a:buNone/>
            </a:pPr>
            <a:r>
              <a:rPr lang="en-US" sz="1200" dirty="0">
                <a:solidFill>
                  <a:srgbClr val="2C3E50"/>
                </a:solidFill>
                <a:latin typeface="Arial" pitchFamily="34" charset="0"/>
                <a:ea typeface="Arial" pitchFamily="34" charset="-122"/>
                <a:cs typeface="Arial" pitchFamily="34" charset="-120"/>
              </a:rPr>
              <a:t>Identify issues in real-time</a:t>
            </a:r>
            <a:endParaRPr lang="en-US" sz="1200" dirty="0"/>
          </a:p>
        </p:txBody>
      </p:sp>
      <p:sp>
        <p:nvSpPr>
          <p:cNvPr id="10" name="Text 8"/>
          <p:cNvSpPr/>
          <p:nvPr/>
        </p:nvSpPr>
        <p:spPr>
          <a:xfrm>
            <a:off x="5564386" y="2983260"/>
            <a:ext cx="2253407" cy="1081980"/>
          </a:xfrm>
          <a:prstGeom prst="roundRect">
            <a:avLst>
              <a:gd name="adj" fmla="val 7043"/>
            </a:avLst>
          </a:prstGeom>
          <a:solidFill>
            <a:srgbClr val="F8F9FA"/>
          </a:solidFill>
          <a:ln/>
        </p:spPr>
        <p:txBody>
          <a:bodyPr wrap="square" rtlCol="0" anchor="ctr"/>
          <a:lstStyle/>
          <a:p>
            <a:pPr indent="0" marL="0">
              <a:buNone/>
            </a:pPr>
            <a:endParaRPr lang="en-US" dirty="0"/>
          </a:p>
        </p:txBody>
      </p:sp>
      <p:sp>
        <p:nvSpPr>
          <p:cNvPr id="11" name="Text 9"/>
          <p:cNvSpPr/>
          <p:nvPr/>
        </p:nvSpPr>
        <p:spPr>
          <a:xfrm>
            <a:off x="5792986" y="3211860"/>
            <a:ext cx="1832131" cy="228600"/>
          </a:xfrm>
          <a:prstGeom prst="rect">
            <a:avLst/>
          </a:prstGeom>
          <a:noFill/>
          <a:ln/>
        </p:spPr>
        <p:txBody>
          <a:bodyPr wrap="square" lIns="0" tIns="0" rIns="0" bIns="0" rtlCol="0" anchor="t"/>
          <a:lstStyle/>
          <a:p>
            <a:pPr algn="l" indent="0" marL="0">
              <a:lnSpc>
                <a:spcPts val="1800"/>
              </a:lnSpc>
              <a:buNone/>
            </a:pPr>
            <a:r>
              <a:rPr lang="en-US" sz="1500" b="1" dirty="0">
                <a:solidFill>
                  <a:srgbClr val="16697A"/>
                </a:solidFill>
                <a:latin typeface="Arial" pitchFamily="34" charset="0"/>
                <a:ea typeface="Arial" pitchFamily="34" charset="-122"/>
                <a:cs typeface="Arial" pitchFamily="34" charset="-120"/>
              </a:rPr>
              <a:t>Response</a:t>
            </a:r>
            <a:endParaRPr lang="en-US" sz="1500" dirty="0"/>
          </a:p>
        </p:txBody>
      </p:sp>
      <p:sp>
        <p:nvSpPr>
          <p:cNvPr id="12" name="Text 10"/>
          <p:cNvSpPr/>
          <p:nvPr/>
        </p:nvSpPr>
        <p:spPr>
          <a:xfrm>
            <a:off x="5792986" y="3592860"/>
            <a:ext cx="1832131" cy="243780"/>
          </a:xfrm>
          <a:prstGeom prst="rect">
            <a:avLst/>
          </a:prstGeom>
          <a:noFill/>
          <a:ln/>
        </p:spPr>
        <p:txBody>
          <a:bodyPr wrap="square" lIns="0" tIns="0" rIns="0" bIns="0" rtlCol="0" anchor="t"/>
          <a:lstStyle/>
          <a:p>
            <a:pPr algn="l" indent="0" marL="0">
              <a:lnSpc>
                <a:spcPts val="1920"/>
              </a:lnSpc>
              <a:buNone/>
            </a:pPr>
            <a:r>
              <a:rPr lang="en-US" sz="1200" dirty="0">
                <a:solidFill>
                  <a:srgbClr val="2C3E50"/>
                </a:solidFill>
                <a:latin typeface="Arial" pitchFamily="34" charset="0"/>
                <a:ea typeface="Arial" pitchFamily="34" charset="-122"/>
                <a:cs typeface="Arial" pitchFamily="34" charset="-120"/>
              </a:rPr>
              <a:t>Quick action when needed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028700"/>
            <a:ext cx="5430965" cy="381000"/>
          </a:xfrm>
          <a:prstGeom prst="rect">
            <a:avLst/>
          </a:prstGeom>
          <a:noFill/>
          <a:ln/>
        </p:spPr>
        <p:txBody>
          <a:bodyPr wrap="square" lIns="0" tIns="0" rIns="0" bIns="0" rtlCol="0" anchor="t"/>
          <a:lstStyle/>
          <a:p>
            <a:pPr algn="l" indent="0" marL="0">
              <a:lnSpc>
                <a:spcPts val="3000"/>
              </a:lnSpc>
              <a:buNone/>
            </a:pPr>
            <a:r>
              <a:rPr lang="en-US" sz="2700" b="1" dirty="0">
                <a:solidFill>
                  <a:srgbClr val="16697A"/>
                </a:solidFill>
                <a:latin typeface="Arial" pitchFamily="34" charset="0"/>
                <a:ea typeface="Arial" pitchFamily="34" charset="-122"/>
                <a:cs typeface="Arial" pitchFamily="34" charset="-120"/>
              </a:rPr>
              <a:t>Electronic Health Records (EHR)</a:t>
            </a:r>
            <a:endParaRPr lang="en-US" sz="2700" dirty="0"/>
          </a:p>
        </p:txBody>
      </p:sp>
      <p:sp>
        <p:nvSpPr>
          <p:cNvPr id="3" name="Text 1"/>
          <p:cNvSpPr/>
          <p:nvPr/>
        </p:nvSpPr>
        <p:spPr>
          <a:xfrm>
            <a:off x="457200" y="1943100"/>
            <a:ext cx="3808476" cy="228600"/>
          </a:xfrm>
          <a:prstGeom prst="rect">
            <a:avLst/>
          </a:prstGeom>
          <a:noFill/>
          <a:ln/>
        </p:spPr>
        <p:txBody>
          <a:bodyPr wrap="square" lIns="0" tIns="0" rIns="0" bIns="0" rtlCol="0" anchor="t"/>
          <a:lstStyle/>
          <a:p>
            <a:pPr algn="l" indent="0" marL="0">
              <a:lnSpc>
                <a:spcPts val="1800"/>
              </a:lnSpc>
              <a:buNone/>
            </a:pPr>
            <a:r>
              <a:rPr lang="en-US" sz="1500" b="1" dirty="0">
                <a:solidFill>
                  <a:srgbClr val="2C3E50"/>
                </a:solidFill>
                <a:latin typeface="Arial" pitchFamily="34" charset="0"/>
                <a:ea typeface="Arial" pitchFamily="34" charset="-122"/>
                <a:cs typeface="Arial" pitchFamily="34" charset="-120"/>
              </a:rPr>
              <a:t>Key Safety Benefits</a:t>
            </a:r>
            <a:endParaRPr lang="en-US" sz="1500" dirty="0"/>
          </a:p>
        </p:txBody>
      </p:sp>
      <p:sp>
        <p:nvSpPr>
          <p:cNvPr id="4" name="Text 2"/>
          <p:cNvSpPr/>
          <p:nvPr/>
        </p:nvSpPr>
        <p:spPr>
          <a:xfrm>
            <a:off x="457200" y="2628900"/>
            <a:ext cx="3733800" cy="1485900"/>
          </a:xfrm>
          <a:prstGeom prst="rect">
            <a:avLst/>
          </a:prstGeom>
          <a:noFill/>
          <a:ln/>
        </p:spPr>
        <p:txBody>
          <a:bodyPr wrap="square" lIns="85725" tIns="0" rIns="0" bIns="0" rtlCol="0" anchor="t"/>
          <a:lstStyle/>
          <a:p>
            <a:pPr algn="l" marL="85725" indent="-85725">
              <a:lnSpc>
                <a:spcPts val="2100"/>
              </a:lnSpc>
              <a:buSzPct val="100000"/>
              <a:buChar char="•"/>
            </a:pPr>
            <a:r>
              <a:rPr lang="en-US" sz="1350" dirty="0">
                <a:solidFill>
                  <a:srgbClr val="2C3E50"/>
                </a:solidFill>
                <a:latin typeface="Arial" pitchFamily="34" charset="0"/>
                <a:ea typeface="Arial" pitchFamily="34" charset="-122"/>
                <a:cs typeface="Arial" pitchFamily="34" charset="-120"/>
              </a:rPr>
              <a:t>Real-time access to patient history</a:t>
            </a:r>
            <a:endParaRPr lang="en-US" sz="1350" dirty="0"/>
          </a:p>
          <a:p>
            <a:pPr algn="l" marL="85725" indent="-85725">
              <a:lnSpc>
                <a:spcPts val="2100"/>
              </a:lnSpc>
              <a:buSzPct val="100000"/>
              <a:buChar char="•"/>
            </a:pPr>
            <a:r>
              <a:rPr lang="en-US" sz="1350" dirty="0">
                <a:solidFill>
                  <a:srgbClr val="2C3E50"/>
                </a:solidFill>
                <a:latin typeface="Arial" pitchFamily="34" charset="0"/>
                <a:ea typeface="Arial" pitchFamily="34" charset="-122"/>
                <a:cs typeface="Arial" pitchFamily="34" charset="-120"/>
              </a:rPr>
              <a:t>Drug interaction alerts</a:t>
            </a:r>
            <a:endParaRPr lang="en-US" sz="1350" dirty="0"/>
          </a:p>
          <a:p>
            <a:pPr algn="l" marL="85725" indent="-85725">
              <a:lnSpc>
                <a:spcPts val="2100"/>
              </a:lnSpc>
              <a:buSzPct val="100000"/>
              <a:buChar char="•"/>
            </a:pPr>
            <a:r>
              <a:rPr lang="en-US" sz="1350" dirty="0">
                <a:solidFill>
                  <a:srgbClr val="2C3E50"/>
                </a:solidFill>
                <a:latin typeface="Arial" pitchFamily="34" charset="0"/>
                <a:ea typeface="Arial" pitchFamily="34" charset="-122"/>
                <a:cs typeface="Arial" pitchFamily="34" charset="-120"/>
              </a:rPr>
              <a:t>Allergy warnings</a:t>
            </a:r>
            <a:endParaRPr lang="en-US" sz="1350" dirty="0"/>
          </a:p>
          <a:p>
            <a:pPr algn="l" marL="85725" indent="-85725">
              <a:lnSpc>
                <a:spcPts val="2100"/>
              </a:lnSpc>
              <a:buSzPct val="100000"/>
              <a:buChar char="•"/>
            </a:pPr>
            <a:r>
              <a:rPr lang="en-US" sz="1350" dirty="0">
                <a:solidFill>
                  <a:srgbClr val="2C3E50"/>
                </a:solidFill>
                <a:latin typeface="Arial" pitchFamily="34" charset="0"/>
                <a:ea typeface="Arial" pitchFamily="34" charset="-122"/>
                <a:cs typeface="Arial" pitchFamily="34" charset="-120"/>
              </a:rPr>
              <a:t>Clinical decision support</a:t>
            </a:r>
            <a:endParaRPr lang="en-US" sz="1350" dirty="0"/>
          </a:p>
          <a:p>
            <a:pPr algn="l" marL="85725" indent="-85725">
              <a:lnSpc>
                <a:spcPts val="2100"/>
              </a:lnSpc>
              <a:buSzPct val="100000"/>
              <a:buChar char="•"/>
            </a:pPr>
            <a:r>
              <a:rPr lang="en-US" sz="1350" dirty="0">
                <a:solidFill>
                  <a:srgbClr val="2C3E50"/>
                </a:solidFill>
                <a:latin typeface="Arial" pitchFamily="34" charset="0"/>
                <a:ea typeface="Arial" pitchFamily="34" charset="-122"/>
                <a:cs typeface="Arial" pitchFamily="34" charset="-120"/>
              </a:rPr>
              <a:t>Reduces duplicate testing</a:t>
            </a:r>
            <a:endParaRPr lang="en-US" sz="1350" dirty="0"/>
          </a:p>
        </p:txBody>
      </p:sp>
      <p:pic>
        <p:nvPicPr>
          <p:cNvPr id="5" name="Image 0" descr="/tmp/rasterized-gradient-067c82e3.png">    </p:cNvPr>
          <p:cNvPicPr>
            <a:picLocks noChangeAspect="1"/>
          </p:cNvPicPr>
          <p:nvPr/>
        </p:nvPicPr>
        <p:blipFill>
          <a:blip r:embed="rId1"/>
          <a:stretch>
            <a:fillRect/>
          </a:stretch>
        </p:blipFill>
        <p:spPr>
          <a:xfrm>
            <a:off x="4495800" y="2190750"/>
            <a:ext cx="4191000" cy="1676251"/>
          </a:xfrm>
          <a:prstGeom prst="rect">
            <a:avLst/>
          </a:prstGeom>
        </p:spPr>
      </p:pic>
      <p:sp>
        <p:nvSpPr>
          <p:cNvPr id="6" name="Text 3"/>
          <p:cNvSpPr/>
          <p:nvPr/>
        </p:nvSpPr>
        <p:spPr>
          <a:xfrm>
            <a:off x="4687062" y="2419350"/>
            <a:ext cx="3808476" cy="365671"/>
          </a:xfrm>
          <a:prstGeom prst="rect">
            <a:avLst/>
          </a:prstGeom>
          <a:noFill/>
          <a:ln/>
        </p:spPr>
        <p:txBody>
          <a:bodyPr wrap="square" lIns="0" tIns="0" rIns="0" bIns="0" rtlCol="0" anchor="t"/>
          <a:lstStyle/>
          <a:p>
            <a:pPr algn="ctr" indent="0" marL="0">
              <a:lnSpc>
                <a:spcPts val="2880"/>
              </a:lnSpc>
              <a:buNone/>
            </a:pPr>
            <a:r>
              <a:rPr lang="en-US" sz="2400" b="1" dirty="0">
                <a:solidFill>
                  <a:srgbClr val="FFFFFF"/>
                </a:solidFill>
                <a:latin typeface="Arial" pitchFamily="34" charset="0"/>
                <a:ea typeface="Arial" pitchFamily="34" charset="-122"/>
                <a:cs typeface="Arial" pitchFamily="34" charset="-120"/>
              </a:rPr>
              <a:t>30-50%</a:t>
            </a:r>
            <a:endParaRPr lang="en-US" sz="2400" dirty="0"/>
          </a:p>
        </p:txBody>
      </p:sp>
      <p:sp>
        <p:nvSpPr>
          <p:cNvPr id="7" name="Text 4"/>
          <p:cNvSpPr/>
          <p:nvPr/>
        </p:nvSpPr>
        <p:spPr>
          <a:xfrm>
            <a:off x="4687062" y="3089821"/>
            <a:ext cx="3808476" cy="548580"/>
          </a:xfrm>
          <a:prstGeom prst="rect">
            <a:avLst/>
          </a:prstGeom>
          <a:noFill/>
          <a:ln/>
        </p:spPr>
        <p:txBody>
          <a:bodyPr wrap="square" lIns="0" tIns="0" rIns="0" bIns="0" rtlCol="0" anchor="t"/>
          <a:lstStyle/>
          <a:p>
            <a:pPr algn="ctr" indent="0" marL="0">
              <a:lnSpc>
                <a:spcPts val="2160"/>
              </a:lnSpc>
              <a:spcBef>
                <a:spcPts val="1200"/>
              </a:spcBef>
              <a:buNone/>
            </a:pPr>
            <a:r>
              <a:rPr lang="en-US" sz="1350" dirty="0">
                <a:solidFill>
                  <a:srgbClr val="FFFFFF"/>
                </a:solidFill>
                <a:latin typeface="Arial" pitchFamily="34" charset="0"/>
                <a:ea typeface="Arial" pitchFamily="34" charset="-122"/>
                <a:cs typeface="Arial" pitchFamily="34" charset="-120"/>
              </a:rPr>
              <a:t>Reduction in medication errors with comprehensive EHR implementation</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537270"/>
            <a:ext cx="4517708" cy="381000"/>
          </a:xfrm>
          <a:prstGeom prst="rect">
            <a:avLst/>
          </a:prstGeom>
          <a:noFill/>
          <a:ln/>
        </p:spPr>
        <p:txBody>
          <a:bodyPr wrap="square" lIns="0" tIns="0" rIns="0" bIns="0" rtlCol="0" anchor="t"/>
          <a:lstStyle/>
          <a:p>
            <a:pPr algn="l" indent="0" marL="0">
              <a:lnSpc>
                <a:spcPts val="3000"/>
              </a:lnSpc>
              <a:buNone/>
            </a:pPr>
            <a:r>
              <a:rPr lang="en-US" sz="2700" b="1" dirty="0">
                <a:solidFill>
                  <a:srgbClr val="16697A"/>
                </a:solidFill>
                <a:latin typeface="Arial" pitchFamily="34" charset="0"/>
                <a:ea typeface="Arial" pitchFamily="34" charset="-122"/>
                <a:cs typeface="Arial" pitchFamily="34" charset="-120"/>
              </a:rPr>
              <a:t>Medication Safety Systems</a:t>
            </a:r>
            <a:endParaRPr lang="en-US" sz="2700" dirty="0"/>
          </a:p>
        </p:txBody>
      </p:sp>
      <p:sp>
        <p:nvSpPr>
          <p:cNvPr id="3" name="Text 1"/>
          <p:cNvSpPr/>
          <p:nvPr/>
        </p:nvSpPr>
        <p:spPr>
          <a:xfrm>
            <a:off x="457200" y="1451670"/>
            <a:ext cx="8394192" cy="228600"/>
          </a:xfrm>
          <a:prstGeom prst="rect">
            <a:avLst/>
          </a:prstGeom>
          <a:noFill/>
          <a:ln/>
        </p:spPr>
        <p:txBody>
          <a:bodyPr wrap="square" lIns="0" tIns="0" rIns="0" bIns="0" rtlCol="0" anchor="t"/>
          <a:lstStyle/>
          <a:p>
            <a:pPr algn="l" indent="0" marL="0">
              <a:lnSpc>
                <a:spcPts val="1800"/>
              </a:lnSpc>
              <a:buNone/>
            </a:pPr>
            <a:r>
              <a:rPr lang="en-US" sz="1500" b="1" dirty="0">
                <a:solidFill>
                  <a:srgbClr val="16697A"/>
                </a:solidFill>
                <a:latin typeface="Arial" pitchFamily="34" charset="0"/>
                <a:ea typeface="Arial" pitchFamily="34" charset="-122"/>
                <a:cs typeface="Arial" pitchFamily="34" charset="-120"/>
              </a:rPr>
              <a:t>Barcode Medication Administration (BCMA)</a:t>
            </a:r>
            <a:endParaRPr lang="en-US" sz="1500" dirty="0"/>
          </a:p>
        </p:txBody>
      </p:sp>
      <p:sp>
        <p:nvSpPr>
          <p:cNvPr id="4" name="Text 2"/>
          <p:cNvSpPr/>
          <p:nvPr/>
        </p:nvSpPr>
        <p:spPr>
          <a:xfrm>
            <a:off x="457200" y="2137470"/>
            <a:ext cx="8394192" cy="274290"/>
          </a:xfrm>
          <a:prstGeom prst="rect">
            <a:avLst/>
          </a:prstGeom>
          <a:noFill/>
          <a:ln/>
        </p:spPr>
        <p:txBody>
          <a:bodyPr wrap="square" lIns="0" tIns="0" rIns="0" bIns="0" rtlCol="0" anchor="t"/>
          <a:lstStyle/>
          <a:p>
            <a:pPr algn="l" indent="0" marL="0">
              <a:lnSpc>
                <a:spcPts val="2160"/>
              </a:lnSpc>
              <a:buNone/>
            </a:pPr>
            <a:r>
              <a:rPr lang="en-US" sz="1350" dirty="0">
                <a:solidFill>
                  <a:srgbClr val="2C3E50"/>
                </a:solidFill>
                <a:latin typeface="Arial" pitchFamily="34" charset="0"/>
                <a:ea typeface="Arial" pitchFamily="34" charset="-122"/>
                <a:cs typeface="Arial" pitchFamily="34" charset="-120"/>
              </a:rPr>
              <a:t>Ensures the </a:t>
            </a:r>
            <a:pPr algn="l" indent="0" marL="0">
              <a:lnSpc>
                <a:spcPts val="2160"/>
              </a:lnSpc>
              <a:buNone/>
            </a:pPr>
            <a:r>
              <a:rPr lang="en-US" sz="1350" b="1" dirty="0">
                <a:solidFill>
                  <a:srgbClr val="FF6B6B"/>
                </a:solidFill>
                <a:latin typeface="Arial" pitchFamily="34" charset="0"/>
                <a:ea typeface="Arial" pitchFamily="34" charset="-122"/>
                <a:cs typeface="Arial" pitchFamily="34" charset="-120"/>
              </a:rPr>
              <a:t>five rights</a:t>
            </a:r>
            <a:pPr algn="l" indent="0" marL="0">
              <a:lnSpc>
                <a:spcPts val="2160"/>
              </a:lnSpc>
              <a:buNone/>
            </a:pPr>
            <a:r>
              <a:rPr lang="en-US" sz="1350" dirty="0">
                <a:solidFill>
                  <a:srgbClr val="2C3E50"/>
                </a:solidFill>
                <a:latin typeface="Arial" pitchFamily="34" charset="0"/>
                <a:ea typeface="Arial" pitchFamily="34" charset="-122"/>
                <a:cs typeface="Arial" pitchFamily="34" charset="-120"/>
              </a:rPr>
              <a:t> of medication administration</a:t>
            </a:r>
            <a:endParaRPr lang="en-US" sz="1350" dirty="0"/>
          </a:p>
        </p:txBody>
      </p:sp>
      <p:sp>
        <p:nvSpPr>
          <p:cNvPr id="5" name="Text 3"/>
          <p:cNvSpPr/>
          <p:nvPr/>
        </p:nvSpPr>
        <p:spPr>
          <a:xfrm>
            <a:off x="457200" y="3021360"/>
            <a:ext cx="1524000" cy="731490"/>
          </a:xfrm>
          <a:prstGeom prst="rect">
            <a:avLst/>
          </a:prstGeom>
          <a:solidFill>
            <a:srgbClr val="F8F9FA"/>
          </a:solidFill>
          <a:ln/>
        </p:spPr>
        <p:txBody>
          <a:bodyPr wrap="square" rtlCol="0" anchor="ctr"/>
          <a:lstStyle/>
          <a:p>
            <a:pPr indent="0" marL="0">
              <a:buNone/>
            </a:pPr>
            <a:endParaRPr lang="en-US" dirty="0"/>
          </a:p>
        </p:txBody>
      </p:sp>
      <p:sp>
        <p:nvSpPr>
          <p:cNvPr id="6" name="Text 4"/>
          <p:cNvSpPr/>
          <p:nvPr/>
        </p:nvSpPr>
        <p:spPr>
          <a:xfrm>
            <a:off x="675132" y="3249960"/>
            <a:ext cx="1088136" cy="274290"/>
          </a:xfrm>
          <a:prstGeom prst="rect">
            <a:avLst/>
          </a:prstGeom>
          <a:noFill/>
          <a:ln/>
        </p:spPr>
        <p:txBody>
          <a:bodyPr wrap="square" lIns="0" tIns="0" rIns="0" bIns="0" rtlCol="0" anchor="t"/>
          <a:lstStyle/>
          <a:p>
            <a:pPr algn="ctr" indent="0" marL="0">
              <a:lnSpc>
                <a:spcPts val="2160"/>
              </a:lnSpc>
              <a:buNone/>
            </a:pPr>
            <a:r>
              <a:rPr lang="en-US" sz="1350" b="1" dirty="0">
                <a:solidFill>
                  <a:srgbClr val="16697A"/>
                </a:solidFill>
                <a:latin typeface="Arial" pitchFamily="34" charset="0"/>
                <a:ea typeface="Arial" pitchFamily="34" charset="-122"/>
                <a:cs typeface="Arial" pitchFamily="34" charset="-120"/>
              </a:rPr>
              <a:t>Right Patient</a:t>
            </a:r>
            <a:endParaRPr lang="en-US" sz="1350" dirty="0"/>
          </a:p>
        </p:txBody>
      </p:sp>
      <p:sp>
        <p:nvSpPr>
          <p:cNvPr id="7" name="Text 5"/>
          <p:cNvSpPr/>
          <p:nvPr/>
        </p:nvSpPr>
        <p:spPr>
          <a:xfrm>
            <a:off x="2133600" y="3021360"/>
            <a:ext cx="1524000" cy="731490"/>
          </a:xfrm>
          <a:prstGeom prst="rect">
            <a:avLst/>
          </a:prstGeom>
          <a:solidFill>
            <a:srgbClr val="F8F9FA"/>
          </a:solidFill>
          <a:ln/>
        </p:spPr>
        <p:txBody>
          <a:bodyPr wrap="square" rtlCol="0" anchor="ctr"/>
          <a:lstStyle/>
          <a:p>
            <a:pPr indent="0" marL="0">
              <a:buNone/>
            </a:pPr>
            <a:endParaRPr lang="en-US" dirty="0"/>
          </a:p>
        </p:txBody>
      </p:sp>
      <p:sp>
        <p:nvSpPr>
          <p:cNvPr id="8" name="Text 6"/>
          <p:cNvSpPr/>
          <p:nvPr/>
        </p:nvSpPr>
        <p:spPr>
          <a:xfrm>
            <a:off x="2351532" y="3249960"/>
            <a:ext cx="1088136" cy="274290"/>
          </a:xfrm>
          <a:prstGeom prst="rect">
            <a:avLst/>
          </a:prstGeom>
          <a:noFill/>
          <a:ln/>
        </p:spPr>
        <p:txBody>
          <a:bodyPr wrap="square" lIns="0" tIns="0" rIns="0" bIns="0" rtlCol="0" anchor="t"/>
          <a:lstStyle/>
          <a:p>
            <a:pPr algn="ctr" indent="0" marL="0">
              <a:lnSpc>
                <a:spcPts val="2160"/>
              </a:lnSpc>
              <a:buNone/>
            </a:pPr>
            <a:r>
              <a:rPr lang="en-US" sz="1350" b="1" dirty="0">
                <a:solidFill>
                  <a:srgbClr val="16697A"/>
                </a:solidFill>
                <a:latin typeface="Arial" pitchFamily="34" charset="0"/>
                <a:ea typeface="Arial" pitchFamily="34" charset="-122"/>
                <a:cs typeface="Arial" pitchFamily="34" charset="-120"/>
              </a:rPr>
              <a:t>Right Drug</a:t>
            </a:r>
            <a:endParaRPr lang="en-US" sz="1350" dirty="0"/>
          </a:p>
        </p:txBody>
      </p:sp>
      <p:sp>
        <p:nvSpPr>
          <p:cNvPr id="9" name="Text 7"/>
          <p:cNvSpPr/>
          <p:nvPr/>
        </p:nvSpPr>
        <p:spPr>
          <a:xfrm>
            <a:off x="3810000" y="3021360"/>
            <a:ext cx="1524000" cy="731490"/>
          </a:xfrm>
          <a:prstGeom prst="rect">
            <a:avLst/>
          </a:prstGeom>
          <a:solidFill>
            <a:srgbClr val="F8F9FA"/>
          </a:solidFill>
          <a:ln/>
        </p:spPr>
        <p:txBody>
          <a:bodyPr wrap="square" rtlCol="0" anchor="ctr"/>
          <a:lstStyle/>
          <a:p>
            <a:pPr indent="0" marL="0">
              <a:buNone/>
            </a:pPr>
            <a:endParaRPr lang="en-US" dirty="0"/>
          </a:p>
        </p:txBody>
      </p:sp>
      <p:sp>
        <p:nvSpPr>
          <p:cNvPr id="10" name="Text 8"/>
          <p:cNvSpPr/>
          <p:nvPr/>
        </p:nvSpPr>
        <p:spPr>
          <a:xfrm>
            <a:off x="4027932" y="3249960"/>
            <a:ext cx="1088136" cy="274290"/>
          </a:xfrm>
          <a:prstGeom prst="rect">
            <a:avLst/>
          </a:prstGeom>
          <a:noFill/>
          <a:ln/>
        </p:spPr>
        <p:txBody>
          <a:bodyPr wrap="square" lIns="0" tIns="0" rIns="0" bIns="0" rtlCol="0" anchor="t"/>
          <a:lstStyle/>
          <a:p>
            <a:pPr algn="ctr" indent="0" marL="0">
              <a:lnSpc>
                <a:spcPts val="2160"/>
              </a:lnSpc>
              <a:buNone/>
            </a:pPr>
            <a:r>
              <a:rPr lang="en-US" sz="1350" b="1" dirty="0">
                <a:solidFill>
                  <a:srgbClr val="16697A"/>
                </a:solidFill>
                <a:latin typeface="Arial" pitchFamily="34" charset="0"/>
                <a:ea typeface="Arial" pitchFamily="34" charset="-122"/>
                <a:cs typeface="Arial" pitchFamily="34" charset="-120"/>
              </a:rPr>
              <a:t>Right Dose</a:t>
            </a:r>
            <a:endParaRPr lang="en-US" sz="1350" dirty="0"/>
          </a:p>
        </p:txBody>
      </p:sp>
      <p:sp>
        <p:nvSpPr>
          <p:cNvPr id="11" name="Text 9"/>
          <p:cNvSpPr/>
          <p:nvPr/>
        </p:nvSpPr>
        <p:spPr>
          <a:xfrm>
            <a:off x="5486400" y="3021360"/>
            <a:ext cx="1524000" cy="731490"/>
          </a:xfrm>
          <a:prstGeom prst="rect">
            <a:avLst/>
          </a:prstGeom>
          <a:solidFill>
            <a:srgbClr val="F8F9FA"/>
          </a:solidFill>
          <a:ln/>
        </p:spPr>
        <p:txBody>
          <a:bodyPr wrap="square" rtlCol="0" anchor="ctr"/>
          <a:lstStyle/>
          <a:p>
            <a:pPr indent="0" marL="0">
              <a:buNone/>
            </a:pPr>
            <a:endParaRPr lang="en-US" dirty="0"/>
          </a:p>
        </p:txBody>
      </p:sp>
      <p:sp>
        <p:nvSpPr>
          <p:cNvPr id="12" name="Text 10"/>
          <p:cNvSpPr/>
          <p:nvPr/>
        </p:nvSpPr>
        <p:spPr>
          <a:xfrm>
            <a:off x="5704332" y="3249960"/>
            <a:ext cx="1088136" cy="274290"/>
          </a:xfrm>
          <a:prstGeom prst="rect">
            <a:avLst/>
          </a:prstGeom>
          <a:noFill/>
          <a:ln/>
        </p:spPr>
        <p:txBody>
          <a:bodyPr wrap="square" lIns="0" tIns="0" rIns="0" bIns="0" rtlCol="0" anchor="t"/>
          <a:lstStyle/>
          <a:p>
            <a:pPr algn="ctr" indent="0" marL="0">
              <a:lnSpc>
                <a:spcPts val="2160"/>
              </a:lnSpc>
              <a:buNone/>
            </a:pPr>
            <a:r>
              <a:rPr lang="en-US" sz="1350" b="1" dirty="0">
                <a:solidFill>
                  <a:srgbClr val="16697A"/>
                </a:solidFill>
                <a:latin typeface="Arial" pitchFamily="34" charset="0"/>
                <a:ea typeface="Arial" pitchFamily="34" charset="-122"/>
                <a:cs typeface="Arial" pitchFamily="34" charset="-120"/>
              </a:rPr>
              <a:t>Right Route</a:t>
            </a:r>
            <a:endParaRPr lang="en-US" sz="1350" dirty="0"/>
          </a:p>
        </p:txBody>
      </p:sp>
      <p:sp>
        <p:nvSpPr>
          <p:cNvPr id="13" name="Text 11"/>
          <p:cNvSpPr/>
          <p:nvPr/>
        </p:nvSpPr>
        <p:spPr>
          <a:xfrm>
            <a:off x="7162800" y="3021360"/>
            <a:ext cx="1524000" cy="731490"/>
          </a:xfrm>
          <a:prstGeom prst="rect">
            <a:avLst/>
          </a:prstGeom>
          <a:solidFill>
            <a:srgbClr val="F8F9FA"/>
          </a:solidFill>
          <a:ln/>
        </p:spPr>
        <p:txBody>
          <a:bodyPr wrap="square" rtlCol="0" anchor="ctr"/>
          <a:lstStyle/>
          <a:p>
            <a:pPr indent="0" marL="0">
              <a:buNone/>
            </a:pPr>
            <a:endParaRPr lang="en-US" dirty="0"/>
          </a:p>
        </p:txBody>
      </p:sp>
      <p:sp>
        <p:nvSpPr>
          <p:cNvPr id="14" name="Text 12"/>
          <p:cNvSpPr/>
          <p:nvPr/>
        </p:nvSpPr>
        <p:spPr>
          <a:xfrm>
            <a:off x="7380732" y="3249960"/>
            <a:ext cx="1088136" cy="274290"/>
          </a:xfrm>
          <a:prstGeom prst="rect">
            <a:avLst/>
          </a:prstGeom>
          <a:noFill/>
          <a:ln/>
        </p:spPr>
        <p:txBody>
          <a:bodyPr wrap="square" lIns="0" tIns="0" rIns="0" bIns="0" rtlCol="0" anchor="t"/>
          <a:lstStyle/>
          <a:p>
            <a:pPr algn="ctr" indent="0" marL="0">
              <a:lnSpc>
                <a:spcPts val="2160"/>
              </a:lnSpc>
              <a:buNone/>
            </a:pPr>
            <a:r>
              <a:rPr lang="en-US" sz="1350" b="1" dirty="0">
                <a:solidFill>
                  <a:srgbClr val="16697A"/>
                </a:solidFill>
                <a:latin typeface="Arial" pitchFamily="34" charset="0"/>
                <a:ea typeface="Arial" pitchFamily="34" charset="-122"/>
                <a:cs typeface="Arial" pitchFamily="34" charset="-120"/>
              </a:rPr>
              <a:t>Right Time</a:t>
            </a:r>
            <a:endParaRPr lang="en-US" sz="1350" dirty="0"/>
          </a:p>
        </p:txBody>
      </p:sp>
      <p:sp>
        <p:nvSpPr>
          <p:cNvPr id="15" name="Text 13"/>
          <p:cNvSpPr/>
          <p:nvPr/>
        </p:nvSpPr>
        <p:spPr>
          <a:xfrm>
            <a:off x="457200" y="4362450"/>
            <a:ext cx="8394192" cy="243780"/>
          </a:xfrm>
          <a:prstGeom prst="rect">
            <a:avLst/>
          </a:prstGeom>
          <a:noFill/>
          <a:ln/>
        </p:spPr>
        <p:txBody>
          <a:bodyPr wrap="square" lIns="0" tIns="0" rIns="0" bIns="0" rtlCol="0" anchor="t"/>
          <a:lstStyle/>
          <a:p>
            <a:pPr algn="l" indent="0" marL="0">
              <a:lnSpc>
                <a:spcPts val="1920"/>
              </a:lnSpc>
              <a:buNone/>
            </a:pPr>
            <a:r>
              <a:rPr lang="en-US" sz="1200" dirty="0">
                <a:solidFill>
                  <a:srgbClr val="95A5A6"/>
                </a:solidFill>
                <a:latin typeface="Arial" pitchFamily="34" charset="0"/>
                <a:ea typeface="Arial" pitchFamily="34" charset="-122"/>
                <a:cs typeface="Arial" pitchFamily="34" charset="-120"/>
              </a:rPr>
              <a:t>Smart pumps and automated dispensing cabinets add additional safety layers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5479542" cy="381000"/>
          </a:xfrm>
          <a:prstGeom prst="rect">
            <a:avLst/>
          </a:prstGeom>
          <a:noFill/>
          <a:ln/>
        </p:spPr>
        <p:txBody>
          <a:bodyPr wrap="square" lIns="0" tIns="0" rIns="0" bIns="0" rtlCol="0" anchor="t"/>
          <a:lstStyle/>
          <a:p>
            <a:pPr algn="l" indent="0" marL="0">
              <a:lnSpc>
                <a:spcPts val="3000"/>
              </a:lnSpc>
              <a:buNone/>
            </a:pPr>
            <a:r>
              <a:rPr lang="en-US" sz="2700" b="1" dirty="0">
                <a:solidFill>
                  <a:srgbClr val="16697A"/>
                </a:solidFill>
                <a:latin typeface="Arial" pitchFamily="34" charset="0"/>
                <a:ea typeface="Arial" pitchFamily="34" charset="-122"/>
                <a:cs typeface="Arial" pitchFamily="34" charset="-120"/>
              </a:rPr>
              <a:t>Patient Identification Technology</a:t>
            </a:r>
            <a:endParaRPr lang="en-US" sz="2700" dirty="0"/>
          </a:p>
        </p:txBody>
      </p:sp>
      <p:sp>
        <p:nvSpPr>
          <p:cNvPr id="3" name="Text 1"/>
          <p:cNvSpPr/>
          <p:nvPr/>
        </p:nvSpPr>
        <p:spPr>
          <a:xfrm>
            <a:off x="457200" y="1066800"/>
            <a:ext cx="4041648" cy="228600"/>
          </a:xfrm>
          <a:prstGeom prst="rect">
            <a:avLst/>
          </a:prstGeom>
          <a:noFill/>
          <a:ln/>
        </p:spPr>
        <p:txBody>
          <a:bodyPr wrap="square" lIns="0" tIns="0" rIns="0" bIns="0" rtlCol="0" anchor="t"/>
          <a:lstStyle/>
          <a:p>
            <a:pPr algn="l" indent="0" marL="0">
              <a:lnSpc>
                <a:spcPts val="1800"/>
              </a:lnSpc>
              <a:buNone/>
            </a:pPr>
            <a:r>
              <a:rPr lang="en-US" sz="1500" b="1" dirty="0">
                <a:solidFill>
                  <a:srgbClr val="2C3E50"/>
                </a:solidFill>
                <a:latin typeface="Arial" pitchFamily="34" charset="0"/>
                <a:ea typeface="Arial" pitchFamily="34" charset="-122"/>
                <a:cs typeface="Arial" pitchFamily="34" charset="-120"/>
              </a:rPr>
              <a:t>Technologies</a:t>
            </a:r>
            <a:endParaRPr lang="en-US" sz="1500" dirty="0"/>
          </a:p>
        </p:txBody>
      </p:sp>
      <p:sp>
        <p:nvSpPr>
          <p:cNvPr id="4" name="Text 2"/>
          <p:cNvSpPr/>
          <p:nvPr/>
        </p:nvSpPr>
        <p:spPr>
          <a:xfrm>
            <a:off x="457200" y="1447800"/>
            <a:ext cx="3962400" cy="1181100"/>
          </a:xfrm>
          <a:prstGeom prst="rect">
            <a:avLst/>
          </a:prstGeom>
          <a:noFill/>
          <a:ln/>
        </p:spPr>
        <p:txBody>
          <a:bodyPr wrap="square" lIns="85725" tIns="0" rIns="0" bIns="0" rtlCol="0" anchor="t"/>
          <a:lstStyle/>
          <a:p>
            <a:pPr algn="l" marL="85725" indent="-85725">
              <a:lnSpc>
                <a:spcPts val="2100"/>
              </a:lnSpc>
              <a:buSzPct val="100000"/>
              <a:buChar char="•"/>
            </a:pPr>
            <a:r>
              <a:rPr lang="en-US" sz="1350" dirty="0">
                <a:solidFill>
                  <a:srgbClr val="2C3E50"/>
                </a:solidFill>
                <a:latin typeface="Arial" pitchFamily="34" charset="0"/>
                <a:ea typeface="Arial" pitchFamily="34" charset="-122"/>
                <a:cs typeface="Arial" pitchFamily="34" charset="-120"/>
              </a:rPr>
              <a:t>Wristband barcodes</a:t>
            </a:r>
            <a:endParaRPr lang="en-US" sz="1350" dirty="0"/>
          </a:p>
          <a:p>
            <a:pPr algn="l" marL="85725" indent="-85725">
              <a:lnSpc>
                <a:spcPts val="2100"/>
              </a:lnSpc>
              <a:buSzPct val="100000"/>
              <a:buChar char="•"/>
            </a:pPr>
            <a:r>
              <a:rPr lang="en-US" sz="1350" dirty="0">
                <a:solidFill>
                  <a:srgbClr val="2C3E50"/>
                </a:solidFill>
                <a:latin typeface="Arial" pitchFamily="34" charset="0"/>
                <a:ea typeface="Arial" pitchFamily="34" charset="-122"/>
                <a:cs typeface="Arial" pitchFamily="34" charset="-120"/>
              </a:rPr>
              <a:t>RFID tracking</a:t>
            </a:r>
            <a:endParaRPr lang="en-US" sz="1350" dirty="0"/>
          </a:p>
          <a:p>
            <a:pPr algn="l" marL="85725" indent="-85725">
              <a:lnSpc>
                <a:spcPts val="2100"/>
              </a:lnSpc>
              <a:buSzPct val="100000"/>
              <a:buChar char="•"/>
            </a:pPr>
            <a:r>
              <a:rPr lang="en-US" sz="1350" dirty="0">
                <a:solidFill>
                  <a:srgbClr val="2C3E50"/>
                </a:solidFill>
                <a:latin typeface="Arial" pitchFamily="34" charset="0"/>
                <a:ea typeface="Arial" pitchFamily="34" charset="-122"/>
                <a:cs typeface="Arial" pitchFamily="34" charset="-120"/>
              </a:rPr>
              <a:t>Biometric verification</a:t>
            </a:r>
            <a:endParaRPr lang="en-US" sz="1350" dirty="0"/>
          </a:p>
          <a:p>
            <a:pPr algn="l" marL="85725" indent="-85725">
              <a:lnSpc>
                <a:spcPts val="2100"/>
              </a:lnSpc>
              <a:buSzPct val="100000"/>
              <a:buChar char="•"/>
            </a:pPr>
            <a:r>
              <a:rPr lang="en-US" sz="1350" dirty="0">
                <a:solidFill>
                  <a:srgbClr val="2C3E50"/>
                </a:solidFill>
                <a:latin typeface="Arial" pitchFamily="34" charset="0"/>
                <a:ea typeface="Arial" pitchFamily="34" charset="-122"/>
                <a:cs typeface="Arial" pitchFamily="34" charset="-120"/>
              </a:rPr>
              <a:t>Photo identification</a:t>
            </a:r>
            <a:endParaRPr lang="en-US" sz="1350" dirty="0"/>
          </a:p>
        </p:txBody>
      </p:sp>
      <p:sp>
        <p:nvSpPr>
          <p:cNvPr id="5" name="Text 3"/>
          <p:cNvSpPr/>
          <p:nvPr/>
        </p:nvSpPr>
        <p:spPr>
          <a:xfrm>
            <a:off x="4724400" y="1066800"/>
            <a:ext cx="4041648" cy="228600"/>
          </a:xfrm>
          <a:prstGeom prst="rect">
            <a:avLst/>
          </a:prstGeom>
          <a:noFill/>
          <a:ln/>
        </p:spPr>
        <p:txBody>
          <a:bodyPr wrap="square" lIns="0" tIns="0" rIns="0" bIns="0" rtlCol="0" anchor="t"/>
          <a:lstStyle/>
          <a:p>
            <a:pPr algn="l" indent="0" marL="0">
              <a:lnSpc>
                <a:spcPts val="1800"/>
              </a:lnSpc>
              <a:buNone/>
            </a:pPr>
            <a:r>
              <a:rPr lang="en-US" sz="1500" b="1" dirty="0">
                <a:solidFill>
                  <a:srgbClr val="2C3E50"/>
                </a:solidFill>
                <a:latin typeface="Arial" pitchFamily="34" charset="0"/>
                <a:ea typeface="Arial" pitchFamily="34" charset="-122"/>
                <a:cs typeface="Arial" pitchFamily="34" charset="-120"/>
              </a:rPr>
              <a:t>Impact</a:t>
            </a:r>
            <a:endParaRPr lang="en-US" sz="1500" dirty="0"/>
          </a:p>
        </p:txBody>
      </p:sp>
      <p:sp>
        <p:nvSpPr>
          <p:cNvPr id="6" name="Text 4"/>
          <p:cNvSpPr/>
          <p:nvPr/>
        </p:nvSpPr>
        <p:spPr>
          <a:xfrm>
            <a:off x="4724400" y="1447800"/>
            <a:ext cx="3962400" cy="1181100"/>
          </a:xfrm>
          <a:prstGeom prst="rect">
            <a:avLst/>
          </a:prstGeom>
          <a:noFill/>
          <a:ln/>
        </p:spPr>
        <p:txBody>
          <a:bodyPr wrap="square" lIns="85725" tIns="0" rIns="0" bIns="0" rtlCol="0" anchor="t"/>
          <a:lstStyle/>
          <a:p>
            <a:pPr algn="l" marL="85725" indent="-85725">
              <a:lnSpc>
                <a:spcPts val="2100"/>
              </a:lnSpc>
              <a:buSzPct val="100000"/>
              <a:buChar char="•"/>
            </a:pPr>
            <a:r>
              <a:rPr lang="en-US" sz="1350" dirty="0">
                <a:solidFill>
                  <a:srgbClr val="2C3E50"/>
                </a:solidFill>
                <a:latin typeface="Arial" pitchFamily="34" charset="0"/>
                <a:ea typeface="Arial" pitchFamily="34" charset="-122"/>
                <a:cs typeface="Arial" pitchFamily="34" charset="-120"/>
              </a:rPr>
              <a:t>Prevents wrong-patient errors</a:t>
            </a:r>
            <a:endParaRPr lang="en-US" sz="1350" dirty="0"/>
          </a:p>
          <a:p>
            <a:pPr algn="l" marL="85725" indent="-85725">
              <a:lnSpc>
                <a:spcPts val="2100"/>
              </a:lnSpc>
              <a:buSzPct val="100000"/>
              <a:buChar char="•"/>
            </a:pPr>
            <a:r>
              <a:rPr lang="en-US" sz="1350" dirty="0">
                <a:solidFill>
                  <a:srgbClr val="2C3E50"/>
                </a:solidFill>
                <a:latin typeface="Arial" pitchFamily="34" charset="0"/>
                <a:ea typeface="Arial" pitchFamily="34" charset="-122"/>
                <a:cs typeface="Arial" pitchFamily="34" charset="-120"/>
              </a:rPr>
              <a:t>Enables accurate documentation</a:t>
            </a:r>
            <a:endParaRPr lang="en-US" sz="1350" dirty="0"/>
          </a:p>
          <a:p>
            <a:pPr algn="l" marL="85725" indent="-85725">
              <a:lnSpc>
                <a:spcPts val="2100"/>
              </a:lnSpc>
              <a:buSzPct val="100000"/>
              <a:buChar char="•"/>
            </a:pPr>
            <a:r>
              <a:rPr lang="en-US" sz="1350" dirty="0">
                <a:solidFill>
                  <a:srgbClr val="2C3E50"/>
                </a:solidFill>
                <a:latin typeface="Arial" pitchFamily="34" charset="0"/>
                <a:ea typeface="Arial" pitchFamily="34" charset="-122"/>
                <a:cs typeface="Arial" pitchFamily="34" charset="-120"/>
              </a:rPr>
              <a:t>Improves specimen tracking</a:t>
            </a:r>
            <a:endParaRPr lang="en-US" sz="1350" dirty="0"/>
          </a:p>
          <a:p>
            <a:pPr algn="l" marL="85725" indent="-85725">
              <a:lnSpc>
                <a:spcPts val="2100"/>
              </a:lnSpc>
              <a:buSzPct val="100000"/>
              <a:buChar char="•"/>
            </a:pPr>
            <a:r>
              <a:rPr lang="en-US" sz="1350" dirty="0">
                <a:solidFill>
                  <a:srgbClr val="2C3E50"/>
                </a:solidFill>
                <a:latin typeface="Arial" pitchFamily="34" charset="0"/>
                <a:ea typeface="Arial" pitchFamily="34" charset="-122"/>
                <a:cs typeface="Arial" pitchFamily="34" charset="-120"/>
              </a:rPr>
              <a:t>Reduces treatment delays</a:t>
            </a:r>
            <a:endParaRPr lang="en-US" sz="1350" dirty="0"/>
          </a:p>
        </p:txBody>
      </p:sp>
      <p:sp>
        <p:nvSpPr>
          <p:cNvPr id="7" name="Text 5"/>
          <p:cNvSpPr/>
          <p:nvPr/>
        </p:nvSpPr>
        <p:spPr>
          <a:xfrm>
            <a:off x="457200" y="2857500"/>
            <a:ext cx="8229600" cy="700980"/>
          </a:xfrm>
          <a:prstGeom prst="rect">
            <a:avLst/>
          </a:prstGeom>
          <a:solidFill>
            <a:srgbClr val="F8F9FA"/>
          </a:solidFill>
          <a:ln/>
        </p:spPr>
        <p:txBody>
          <a:bodyPr wrap="square" rtlCol="0" anchor="ctr"/>
          <a:lstStyle/>
          <a:p>
            <a:pPr indent="0" marL="0">
              <a:buNone/>
            </a:pPr>
            <a:endParaRPr lang="en-US" dirty="0"/>
          </a:p>
        </p:txBody>
      </p:sp>
      <p:sp>
        <p:nvSpPr>
          <p:cNvPr id="8" name="Shape 6"/>
          <p:cNvSpPr/>
          <p:nvPr/>
        </p:nvSpPr>
        <p:spPr>
          <a:xfrm>
            <a:off x="485775" y="2857500"/>
            <a:ext cx="0" cy="700980"/>
          </a:xfrm>
          <a:prstGeom prst="line">
            <a:avLst/>
          </a:prstGeom>
          <a:noFill/>
          <a:ln w="57150">
            <a:solidFill>
              <a:srgbClr val="16697A"/>
            </a:solidFill>
            <a:prstDash val="solid"/>
          </a:ln>
        </p:spPr>
      </p:sp>
      <p:sp>
        <p:nvSpPr>
          <p:cNvPr id="9" name="Text 7"/>
          <p:cNvSpPr/>
          <p:nvPr/>
        </p:nvSpPr>
        <p:spPr>
          <a:xfrm>
            <a:off x="742950" y="3086100"/>
            <a:ext cx="7869555" cy="243780"/>
          </a:xfrm>
          <a:prstGeom prst="rect">
            <a:avLst/>
          </a:prstGeom>
          <a:noFill/>
          <a:ln/>
        </p:spPr>
        <p:txBody>
          <a:bodyPr wrap="square" lIns="0" tIns="0" rIns="0" bIns="0" rtlCol="0" anchor="t"/>
          <a:lstStyle/>
          <a:p>
            <a:pPr algn="l" indent="0" marL="0">
              <a:lnSpc>
                <a:spcPts val="1920"/>
              </a:lnSpc>
              <a:buNone/>
            </a:pPr>
            <a:r>
              <a:rPr lang="en-US" sz="1200" b="1" dirty="0">
                <a:solidFill>
                  <a:srgbClr val="2C3E50"/>
                </a:solidFill>
                <a:latin typeface="Arial" pitchFamily="34" charset="0"/>
                <a:ea typeface="Arial" pitchFamily="34" charset="-122"/>
                <a:cs typeface="Arial" pitchFamily="34" charset="-120"/>
              </a:rPr>
              <a:t>Critical for safety:</a:t>
            </a:r>
            <a:pPr algn="l" indent="0" marL="0">
              <a:lnSpc>
                <a:spcPts val="1920"/>
              </a:lnSpc>
              <a:buNone/>
            </a:pPr>
            <a:r>
              <a:rPr lang="en-US" sz="1200" dirty="0">
                <a:solidFill>
                  <a:srgbClr val="2C3E50"/>
                </a:solidFill>
                <a:latin typeface="Arial" pitchFamily="34" charset="0"/>
                <a:ea typeface="Arial" pitchFamily="34" charset="-122"/>
                <a:cs typeface="Arial" pitchFamily="34" charset="-120"/>
              </a:rPr>
              <a:t> Two-factor patient identification before every procedure or medication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4546854" cy="381000"/>
          </a:xfrm>
          <a:prstGeom prst="rect">
            <a:avLst/>
          </a:prstGeom>
          <a:noFill/>
          <a:ln/>
        </p:spPr>
        <p:txBody>
          <a:bodyPr wrap="square" lIns="0" tIns="0" rIns="0" bIns="0" rtlCol="0" anchor="t"/>
          <a:lstStyle/>
          <a:p>
            <a:pPr algn="l" indent="0" marL="0">
              <a:lnSpc>
                <a:spcPts val="3000"/>
              </a:lnSpc>
              <a:buNone/>
            </a:pPr>
            <a:r>
              <a:rPr lang="en-US" sz="2700" b="1" dirty="0">
                <a:solidFill>
                  <a:srgbClr val="16697A"/>
                </a:solidFill>
                <a:latin typeface="Arial" pitchFamily="34" charset="0"/>
                <a:ea typeface="Arial" pitchFamily="34" charset="-122"/>
                <a:cs typeface="Arial" pitchFamily="34" charset="-120"/>
              </a:rPr>
              <a:t>Fall Prevention Technology</a:t>
            </a:r>
            <a:endParaRPr lang="en-US" sz="2700" dirty="0"/>
          </a:p>
        </p:txBody>
      </p:sp>
      <p:sp>
        <p:nvSpPr>
          <p:cNvPr id="3" name="Text 1"/>
          <p:cNvSpPr/>
          <p:nvPr/>
        </p:nvSpPr>
        <p:spPr>
          <a:xfrm>
            <a:off x="457200" y="1143000"/>
            <a:ext cx="8394192" cy="228600"/>
          </a:xfrm>
          <a:prstGeom prst="rect">
            <a:avLst/>
          </a:prstGeom>
          <a:noFill/>
          <a:ln/>
        </p:spPr>
        <p:txBody>
          <a:bodyPr wrap="square" lIns="0" tIns="0" rIns="0" bIns="0" rtlCol="0" anchor="t"/>
          <a:lstStyle/>
          <a:p>
            <a:pPr algn="l" indent="0" marL="0">
              <a:lnSpc>
                <a:spcPts val="1800"/>
              </a:lnSpc>
              <a:buNone/>
            </a:pPr>
            <a:r>
              <a:rPr lang="en-US" sz="1500" b="1" dirty="0">
                <a:solidFill>
                  <a:srgbClr val="16697A"/>
                </a:solidFill>
                <a:latin typeface="Arial" pitchFamily="34" charset="0"/>
                <a:ea typeface="Arial" pitchFamily="34" charset="-122"/>
                <a:cs typeface="Arial" pitchFamily="34" charset="-120"/>
              </a:rPr>
              <a:t>Smart Monitoring Systems</a:t>
            </a:r>
            <a:endParaRPr lang="en-US" sz="1500" dirty="0"/>
          </a:p>
        </p:txBody>
      </p:sp>
      <p:sp>
        <p:nvSpPr>
          <p:cNvPr id="4" name="Text 2"/>
          <p:cNvSpPr/>
          <p:nvPr/>
        </p:nvSpPr>
        <p:spPr>
          <a:xfrm>
            <a:off x="457200" y="1524000"/>
            <a:ext cx="8229600" cy="1181100"/>
          </a:xfrm>
          <a:prstGeom prst="rect">
            <a:avLst/>
          </a:prstGeom>
          <a:noFill/>
          <a:ln/>
        </p:spPr>
        <p:txBody>
          <a:bodyPr wrap="square" lIns="85725" tIns="0" rIns="0" bIns="0" rtlCol="0" anchor="t"/>
          <a:lstStyle/>
          <a:p>
            <a:pPr algn="l" marL="85725" indent="-85725">
              <a:lnSpc>
                <a:spcPts val="2100"/>
              </a:lnSpc>
              <a:buSzPct val="100000"/>
              <a:buChar char="•"/>
            </a:pPr>
            <a:r>
              <a:rPr lang="en-US" sz="1350" dirty="0">
                <a:solidFill>
                  <a:srgbClr val="2C3E50"/>
                </a:solidFill>
                <a:latin typeface="Arial" pitchFamily="34" charset="0"/>
                <a:ea typeface="Arial" pitchFamily="34" charset="-122"/>
                <a:cs typeface="Arial" pitchFamily="34" charset="-120"/>
              </a:rPr>
              <a:t>Bed and chair sensors detect patient movement</a:t>
            </a:r>
            <a:endParaRPr lang="en-US" sz="1350" dirty="0"/>
          </a:p>
          <a:p>
            <a:pPr algn="l" marL="85725" indent="-85725">
              <a:lnSpc>
                <a:spcPts val="2100"/>
              </a:lnSpc>
              <a:buSzPct val="100000"/>
              <a:buChar char="•"/>
            </a:pPr>
            <a:r>
              <a:rPr lang="en-US" sz="1350" dirty="0">
                <a:solidFill>
                  <a:srgbClr val="2C3E50"/>
                </a:solidFill>
                <a:latin typeface="Arial" pitchFamily="34" charset="0"/>
                <a:ea typeface="Arial" pitchFamily="34" charset="-122"/>
                <a:cs typeface="Arial" pitchFamily="34" charset="-120"/>
              </a:rPr>
              <a:t>Wearable devices monitor gait and balance</a:t>
            </a:r>
            <a:endParaRPr lang="en-US" sz="1350" dirty="0"/>
          </a:p>
          <a:p>
            <a:pPr algn="l" marL="85725" indent="-85725">
              <a:lnSpc>
                <a:spcPts val="2100"/>
              </a:lnSpc>
              <a:buSzPct val="100000"/>
              <a:buChar char="•"/>
            </a:pPr>
            <a:r>
              <a:rPr lang="en-US" sz="1350" dirty="0">
                <a:solidFill>
                  <a:srgbClr val="2C3E50"/>
                </a:solidFill>
                <a:latin typeface="Arial" pitchFamily="34" charset="0"/>
                <a:ea typeface="Arial" pitchFamily="34" charset="-122"/>
                <a:cs typeface="Arial" pitchFamily="34" charset="-120"/>
              </a:rPr>
              <a:t>Video monitoring with AI alerts</a:t>
            </a:r>
            <a:endParaRPr lang="en-US" sz="1350" dirty="0"/>
          </a:p>
          <a:p>
            <a:pPr algn="l" marL="85725" indent="-85725">
              <a:lnSpc>
                <a:spcPts val="2100"/>
              </a:lnSpc>
              <a:buSzPct val="100000"/>
              <a:buChar char="•"/>
            </a:pPr>
            <a:r>
              <a:rPr lang="en-US" sz="1350" dirty="0">
                <a:solidFill>
                  <a:srgbClr val="2C3E50"/>
                </a:solidFill>
                <a:latin typeface="Arial" pitchFamily="34" charset="0"/>
                <a:ea typeface="Arial" pitchFamily="34" charset="-122"/>
                <a:cs typeface="Arial" pitchFamily="34" charset="-120"/>
              </a:rPr>
              <a:t>Floor pressure sensors in high-risk areas</a:t>
            </a:r>
            <a:endParaRPr lang="en-US" sz="1350" dirty="0"/>
          </a:p>
        </p:txBody>
      </p:sp>
      <p:sp>
        <p:nvSpPr>
          <p:cNvPr id="5" name="Text 3"/>
          <p:cNvSpPr/>
          <p:nvPr/>
        </p:nvSpPr>
        <p:spPr>
          <a:xfrm>
            <a:off x="457200" y="3009900"/>
            <a:ext cx="8229600" cy="762000"/>
          </a:xfrm>
          <a:prstGeom prst="roundRect">
            <a:avLst>
              <a:gd name="adj" fmla="val 10000"/>
            </a:avLst>
          </a:prstGeom>
          <a:solidFill>
            <a:srgbClr val="FF6B6B"/>
          </a:solidFill>
          <a:ln/>
        </p:spPr>
        <p:txBody>
          <a:bodyPr wrap="square" rtlCol="0" anchor="ctr"/>
          <a:lstStyle/>
          <a:p>
            <a:pPr indent="0" marL="0">
              <a:buNone/>
            </a:pPr>
            <a:endParaRPr lang="en-US" dirty="0"/>
          </a:p>
        </p:txBody>
      </p:sp>
      <p:sp>
        <p:nvSpPr>
          <p:cNvPr id="6" name="Text 4"/>
          <p:cNvSpPr/>
          <p:nvPr/>
        </p:nvSpPr>
        <p:spPr>
          <a:xfrm>
            <a:off x="608076" y="3238500"/>
            <a:ext cx="7927848" cy="304800"/>
          </a:xfrm>
          <a:prstGeom prst="rect">
            <a:avLst/>
          </a:prstGeom>
          <a:noFill/>
          <a:ln/>
        </p:spPr>
        <p:txBody>
          <a:bodyPr wrap="square" lIns="0" tIns="0" rIns="0" bIns="0" rtlCol="0" anchor="t"/>
          <a:lstStyle/>
          <a:p>
            <a:pPr algn="ctr" indent="0" marL="0">
              <a:lnSpc>
                <a:spcPts val="2400"/>
              </a:lnSpc>
              <a:buNone/>
            </a:pPr>
            <a:r>
              <a:rPr lang="en-US" sz="1500" b="1" dirty="0">
                <a:solidFill>
                  <a:srgbClr val="FFFFFF"/>
                </a:solidFill>
                <a:latin typeface="Arial" pitchFamily="34" charset="0"/>
                <a:ea typeface="Arial" pitchFamily="34" charset="-122"/>
                <a:cs typeface="Arial" pitchFamily="34" charset="-120"/>
              </a:rPr>
              <a:t>Falls are the #1 cause</a:t>
            </a:r>
            <a:pPr algn="ctr" indent="0" marL="0">
              <a:lnSpc>
                <a:spcPts val="2400"/>
              </a:lnSpc>
              <a:buNone/>
            </a:pPr>
            <a:r>
              <a:rPr lang="en-US" sz="1500" dirty="0">
                <a:solidFill>
                  <a:srgbClr val="FFFFFF"/>
                </a:solidFill>
                <a:latin typeface="Arial" pitchFamily="34" charset="0"/>
                <a:ea typeface="Arial" pitchFamily="34" charset="-122"/>
                <a:cs typeface="Arial" pitchFamily="34" charset="-120"/>
              </a:rPr>
              <a:t> of hospital-related injuries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4702302" cy="381000"/>
          </a:xfrm>
          <a:prstGeom prst="rect">
            <a:avLst/>
          </a:prstGeom>
          <a:noFill/>
          <a:ln/>
        </p:spPr>
        <p:txBody>
          <a:bodyPr wrap="square" lIns="0" tIns="0" rIns="0" bIns="0" rtlCol="0" anchor="t"/>
          <a:lstStyle/>
          <a:p>
            <a:pPr algn="l" indent="0" marL="0">
              <a:lnSpc>
                <a:spcPts val="3000"/>
              </a:lnSpc>
              <a:buNone/>
            </a:pPr>
            <a:r>
              <a:rPr lang="en-US" sz="2700" b="1" dirty="0">
                <a:solidFill>
                  <a:srgbClr val="16697A"/>
                </a:solidFill>
                <a:latin typeface="Arial" pitchFamily="34" charset="0"/>
                <a:ea typeface="Arial" pitchFamily="34" charset="-122"/>
                <a:cs typeface="Arial" pitchFamily="34" charset="-120"/>
              </a:rPr>
              <a:t>Infection Control Monitoring</a:t>
            </a:r>
            <a:endParaRPr lang="en-US" sz="2700" dirty="0"/>
          </a:p>
        </p:txBody>
      </p:sp>
      <p:sp>
        <p:nvSpPr>
          <p:cNvPr id="3" name="Text 1"/>
          <p:cNvSpPr/>
          <p:nvPr/>
        </p:nvSpPr>
        <p:spPr>
          <a:xfrm>
            <a:off x="457200" y="1146721"/>
            <a:ext cx="3808476" cy="228600"/>
          </a:xfrm>
          <a:prstGeom prst="rect">
            <a:avLst/>
          </a:prstGeom>
          <a:noFill/>
          <a:ln/>
        </p:spPr>
        <p:txBody>
          <a:bodyPr wrap="square" lIns="0" tIns="0" rIns="0" bIns="0" rtlCol="0" anchor="t"/>
          <a:lstStyle/>
          <a:p>
            <a:pPr algn="l" indent="0" marL="0">
              <a:lnSpc>
                <a:spcPts val="1800"/>
              </a:lnSpc>
              <a:buNone/>
            </a:pPr>
            <a:r>
              <a:rPr lang="en-US" sz="1500" b="1" dirty="0">
                <a:solidFill>
                  <a:srgbClr val="2C3E50"/>
                </a:solidFill>
                <a:latin typeface="Arial" pitchFamily="34" charset="0"/>
                <a:ea typeface="Arial" pitchFamily="34" charset="-122"/>
                <a:cs typeface="Arial" pitchFamily="34" charset="-120"/>
              </a:rPr>
              <a:t>Automated Systems</a:t>
            </a:r>
            <a:endParaRPr lang="en-US" sz="1500" dirty="0"/>
          </a:p>
        </p:txBody>
      </p:sp>
      <p:sp>
        <p:nvSpPr>
          <p:cNvPr id="4" name="Text 2"/>
          <p:cNvSpPr/>
          <p:nvPr/>
        </p:nvSpPr>
        <p:spPr>
          <a:xfrm>
            <a:off x="457200" y="1527721"/>
            <a:ext cx="3733800" cy="1181100"/>
          </a:xfrm>
          <a:prstGeom prst="rect">
            <a:avLst/>
          </a:prstGeom>
          <a:noFill/>
          <a:ln/>
        </p:spPr>
        <p:txBody>
          <a:bodyPr wrap="square" lIns="85725" tIns="0" rIns="0" bIns="0" rtlCol="0" anchor="t"/>
          <a:lstStyle/>
          <a:p>
            <a:pPr algn="l" marL="85725" indent="-85725">
              <a:lnSpc>
                <a:spcPts val="2100"/>
              </a:lnSpc>
              <a:buSzPct val="100000"/>
              <a:buChar char="•"/>
            </a:pPr>
            <a:r>
              <a:rPr lang="en-US" sz="1350" dirty="0">
                <a:solidFill>
                  <a:srgbClr val="2C3E50"/>
                </a:solidFill>
                <a:latin typeface="Arial" pitchFamily="34" charset="0"/>
                <a:ea typeface="Arial" pitchFamily="34" charset="-122"/>
                <a:cs typeface="Arial" pitchFamily="34" charset="-120"/>
              </a:rPr>
              <a:t>Hand hygiene compliance tracking</a:t>
            </a:r>
            <a:endParaRPr lang="en-US" sz="1350" dirty="0"/>
          </a:p>
          <a:p>
            <a:pPr algn="l" marL="85725" indent="-85725">
              <a:lnSpc>
                <a:spcPts val="2100"/>
              </a:lnSpc>
              <a:buSzPct val="100000"/>
              <a:buChar char="•"/>
            </a:pPr>
            <a:r>
              <a:rPr lang="en-US" sz="1350" dirty="0">
                <a:solidFill>
                  <a:srgbClr val="2C3E50"/>
                </a:solidFill>
                <a:latin typeface="Arial" pitchFamily="34" charset="0"/>
                <a:ea typeface="Arial" pitchFamily="34" charset="-122"/>
                <a:cs typeface="Arial" pitchFamily="34" charset="-120"/>
              </a:rPr>
              <a:t>UV disinfection verification</a:t>
            </a:r>
            <a:endParaRPr lang="en-US" sz="1350" dirty="0"/>
          </a:p>
          <a:p>
            <a:pPr algn="l" marL="85725" indent="-85725">
              <a:lnSpc>
                <a:spcPts val="2100"/>
              </a:lnSpc>
              <a:buSzPct val="100000"/>
              <a:buChar char="•"/>
            </a:pPr>
            <a:r>
              <a:rPr lang="en-US" sz="1350" dirty="0">
                <a:solidFill>
                  <a:srgbClr val="2C3E50"/>
                </a:solidFill>
                <a:latin typeface="Arial" pitchFamily="34" charset="0"/>
                <a:ea typeface="Arial" pitchFamily="34" charset="-122"/>
                <a:cs typeface="Arial" pitchFamily="34" charset="-120"/>
              </a:rPr>
              <a:t>Environmental monitoring sensors</a:t>
            </a:r>
            <a:endParaRPr lang="en-US" sz="1350" dirty="0"/>
          </a:p>
          <a:p>
            <a:pPr algn="l" marL="85725" indent="-85725">
              <a:lnSpc>
                <a:spcPts val="2100"/>
              </a:lnSpc>
              <a:buSzPct val="100000"/>
              <a:buChar char="•"/>
            </a:pPr>
            <a:r>
              <a:rPr lang="en-US" sz="1350" dirty="0">
                <a:solidFill>
                  <a:srgbClr val="2C3E50"/>
                </a:solidFill>
                <a:latin typeface="Arial" pitchFamily="34" charset="0"/>
                <a:ea typeface="Arial" pitchFamily="34" charset="-122"/>
                <a:cs typeface="Arial" pitchFamily="34" charset="-120"/>
              </a:rPr>
              <a:t>Contact tracing systems</a:t>
            </a:r>
            <a:endParaRPr lang="en-US" sz="1350" dirty="0"/>
          </a:p>
        </p:txBody>
      </p:sp>
      <p:pic>
        <p:nvPicPr>
          <p:cNvPr id="5" name="Image 0" descr="/tmp/rasterized-gradient-66dd006e.png">    </p:cNvPr>
          <p:cNvPicPr>
            <a:picLocks noChangeAspect="1"/>
          </p:cNvPicPr>
          <p:nvPr/>
        </p:nvPicPr>
        <p:blipFill>
          <a:blip r:embed="rId1"/>
          <a:stretch>
            <a:fillRect/>
          </a:stretch>
        </p:blipFill>
        <p:spPr>
          <a:xfrm>
            <a:off x="4495800" y="1066800"/>
            <a:ext cx="4191000" cy="1721941"/>
          </a:xfrm>
          <a:prstGeom prst="rect">
            <a:avLst/>
          </a:prstGeom>
        </p:spPr>
      </p:pic>
      <p:sp>
        <p:nvSpPr>
          <p:cNvPr id="6" name="Text 3"/>
          <p:cNvSpPr/>
          <p:nvPr/>
        </p:nvSpPr>
        <p:spPr>
          <a:xfrm>
            <a:off x="4687062" y="1295400"/>
            <a:ext cx="3808476" cy="411361"/>
          </a:xfrm>
          <a:prstGeom prst="rect">
            <a:avLst/>
          </a:prstGeom>
          <a:noFill/>
          <a:ln/>
        </p:spPr>
        <p:txBody>
          <a:bodyPr wrap="square" lIns="0" tIns="0" rIns="0" bIns="0" rtlCol="0" anchor="t"/>
          <a:lstStyle/>
          <a:p>
            <a:pPr algn="ctr" indent="0" marL="0">
              <a:lnSpc>
                <a:spcPts val="3240"/>
              </a:lnSpc>
              <a:buNone/>
            </a:pPr>
            <a:r>
              <a:rPr lang="en-US" sz="2700" b="1" dirty="0">
                <a:solidFill>
                  <a:srgbClr val="FFFFFF"/>
                </a:solidFill>
                <a:latin typeface="Arial" pitchFamily="34" charset="0"/>
                <a:ea typeface="Arial" pitchFamily="34" charset="-122"/>
                <a:cs typeface="Arial" pitchFamily="34" charset="-120"/>
              </a:rPr>
              <a:t>20-40%</a:t>
            </a:r>
            <a:endParaRPr lang="en-US" sz="2700" dirty="0"/>
          </a:p>
        </p:txBody>
      </p:sp>
      <p:sp>
        <p:nvSpPr>
          <p:cNvPr id="7" name="Text 4"/>
          <p:cNvSpPr/>
          <p:nvPr/>
        </p:nvSpPr>
        <p:spPr>
          <a:xfrm>
            <a:off x="4687062" y="2011561"/>
            <a:ext cx="3808476" cy="548580"/>
          </a:xfrm>
          <a:prstGeom prst="rect">
            <a:avLst/>
          </a:prstGeom>
          <a:noFill/>
          <a:ln/>
        </p:spPr>
        <p:txBody>
          <a:bodyPr wrap="square" lIns="0" tIns="0" rIns="0" bIns="0" rtlCol="0" anchor="t"/>
          <a:lstStyle/>
          <a:p>
            <a:pPr algn="ctr" indent="0" marL="0">
              <a:lnSpc>
                <a:spcPts val="2160"/>
              </a:lnSpc>
              <a:spcBef>
                <a:spcPts val="1200"/>
              </a:spcBef>
              <a:buNone/>
            </a:pPr>
            <a:r>
              <a:rPr lang="en-US" sz="1350" dirty="0">
                <a:solidFill>
                  <a:srgbClr val="FFFFFF"/>
                </a:solidFill>
                <a:latin typeface="Arial" pitchFamily="34" charset="0"/>
                <a:ea typeface="Arial" pitchFamily="34" charset="-122"/>
                <a:cs typeface="Arial" pitchFamily="34" charset="-120"/>
              </a:rPr>
              <a:t>Reduction in HAIs with comprehensive monitoring technology</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5528119" cy="381000"/>
          </a:xfrm>
          <a:prstGeom prst="rect">
            <a:avLst/>
          </a:prstGeom>
          <a:noFill/>
          <a:ln/>
        </p:spPr>
        <p:txBody>
          <a:bodyPr wrap="square" lIns="0" tIns="0" rIns="0" bIns="0" rtlCol="0" anchor="t"/>
          <a:lstStyle/>
          <a:p>
            <a:pPr algn="l" indent="0" marL="0">
              <a:lnSpc>
                <a:spcPts val="3000"/>
              </a:lnSpc>
              <a:buNone/>
            </a:pPr>
            <a:r>
              <a:rPr lang="en-US" sz="2700" b="1" dirty="0">
                <a:solidFill>
                  <a:srgbClr val="16697A"/>
                </a:solidFill>
                <a:latin typeface="Arial" pitchFamily="34" charset="0"/>
                <a:ea typeface="Arial" pitchFamily="34" charset="-122"/>
                <a:cs typeface="Arial" pitchFamily="34" charset="-120"/>
              </a:rPr>
              <a:t>Clinical Communication Systems</a:t>
            </a:r>
            <a:endParaRPr lang="en-US" sz="2700" dirty="0"/>
          </a:p>
        </p:txBody>
      </p:sp>
      <p:sp>
        <p:nvSpPr>
          <p:cNvPr id="3" name="Text 1"/>
          <p:cNvSpPr/>
          <p:nvPr/>
        </p:nvSpPr>
        <p:spPr>
          <a:xfrm>
            <a:off x="457200" y="1066800"/>
            <a:ext cx="8394192" cy="304800"/>
          </a:xfrm>
          <a:prstGeom prst="rect">
            <a:avLst/>
          </a:prstGeom>
          <a:noFill/>
          <a:ln/>
        </p:spPr>
        <p:txBody>
          <a:bodyPr wrap="square" lIns="0" tIns="0" rIns="0" bIns="0" rtlCol="0" anchor="t"/>
          <a:lstStyle/>
          <a:p>
            <a:pPr algn="l" indent="0" marL="0">
              <a:lnSpc>
                <a:spcPts val="2400"/>
              </a:lnSpc>
              <a:buNone/>
            </a:pPr>
            <a:r>
              <a:rPr lang="en-US" sz="1500" dirty="0">
                <a:solidFill>
                  <a:srgbClr val="95A5A6"/>
                </a:solidFill>
                <a:latin typeface="Arial" pitchFamily="34" charset="0"/>
                <a:ea typeface="Arial" pitchFamily="34" charset="-122"/>
                <a:cs typeface="Arial" pitchFamily="34" charset="-120"/>
              </a:rPr>
              <a:t>Secure, instant communication prevents delays and errors</a:t>
            </a:r>
            <a:endParaRPr lang="en-US" sz="1500" dirty="0"/>
          </a:p>
        </p:txBody>
      </p:sp>
      <p:sp>
        <p:nvSpPr>
          <p:cNvPr id="4" name="Text 2"/>
          <p:cNvSpPr/>
          <p:nvPr/>
        </p:nvSpPr>
        <p:spPr>
          <a:xfrm>
            <a:off x="457200" y="1676400"/>
            <a:ext cx="2590800" cy="1455241"/>
          </a:xfrm>
          <a:prstGeom prst="rect">
            <a:avLst/>
          </a:prstGeom>
          <a:solidFill>
            <a:srgbClr val="F8F9FA"/>
          </a:solidFill>
          <a:ln/>
        </p:spPr>
        <p:txBody>
          <a:bodyPr wrap="square" rtlCol="0" anchor="ctr"/>
          <a:lstStyle/>
          <a:p>
            <a:pPr indent="0" marL="0">
              <a:buNone/>
            </a:pPr>
            <a:endParaRPr lang="en-US" dirty="0"/>
          </a:p>
        </p:txBody>
      </p:sp>
      <p:sp>
        <p:nvSpPr>
          <p:cNvPr id="5" name="Text 3"/>
          <p:cNvSpPr/>
          <p:nvPr/>
        </p:nvSpPr>
        <p:spPr>
          <a:xfrm>
            <a:off x="685800" y="1905000"/>
            <a:ext cx="2176272" cy="205680"/>
          </a:xfrm>
          <a:prstGeom prst="rect">
            <a:avLst/>
          </a:prstGeom>
          <a:noFill/>
          <a:ln/>
        </p:spPr>
        <p:txBody>
          <a:bodyPr wrap="square" lIns="0" tIns="0" rIns="0" bIns="0" rtlCol="0" anchor="t"/>
          <a:lstStyle/>
          <a:p>
            <a:pPr algn="l" indent="0" marL="0">
              <a:lnSpc>
                <a:spcPts val="1620"/>
              </a:lnSpc>
              <a:buNone/>
            </a:pPr>
            <a:r>
              <a:rPr lang="en-US" sz="1350" b="1" dirty="0">
                <a:solidFill>
                  <a:srgbClr val="16697A"/>
                </a:solidFill>
                <a:latin typeface="Arial" pitchFamily="34" charset="0"/>
                <a:ea typeface="Arial" pitchFamily="34" charset="-122"/>
                <a:cs typeface="Arial" pitchFamily="34" charset="-120"/>
              </a:rPr>
              <a:t>Secure Messaging</a:t>
            </a:r>
            <a:endParaRPr lang="en-US" sz="1350" dirty="0"/>
          </a:p>
        </p:txBody>
      </p:sp>
      <p:sp>
        <p:nvSpPr>
          <p:cNvPr id="6" name="Text 4"/>
          <p:cNvSpPr/>
          <p:nvPr/>
        </p:nvSpPr>
        <p:spPr>
          <a:xfrm>
            <a:off x="685800" y="2415480"/>
            <a:ext cx="2176272" cy="487561"/>
          </a:xfrm>
          <a:prstGeom prst="rect">
            <a:avLst/>
          </a:prstGeom>
          <a:noFill/>
          <a:ln/>
        </p:spPr>
        <p:txBody>
          <a:bodyPr wrap="square" lIns="0" tIns="0" rIns="0" bIns="0" rtlCol="0" anchor="t"/>
          <a:lstStyle/>
          <a:p>
            <a:pPr algn="l" indent="0" marL="0">
              <a:lnSpc>
                <a:spcPts val="1920"/>
              </a:lnSpc>
              <a:spcBef>
                <a:spcPts val="1200"/>
              </a:spcBef>
              <a:buNone/>
            </a:pPr>
            <a:r>
              <a:rPr lang="en-US" sz="1200" dirty="0">
                <a:solidFill>
                  <a:srgbClr val="2C3E50"/>
                </a:solidFill>
                <a:latin typeface="Arial" pitchFamily="34" charset="0"/>
                <a:ea typeface="Arial" pitchFamily="34" charset="-122"/>
                <a:cs typeface="Arial" pitchFamily="34" charset="-120"/>
              </a:rPr>
              <a:t>HIPAA-compliant platforms for care coordination</a:t>
            </a:r>
            <a:endParaRPr lang="en-US" sz="1200" dirty="0"/>
          </a:p>
        </p:txBody>
      </p:sp>
      <p:sp>
        <p:nvSpPr>
          <p:cNvPr id="7" name="Text 5"/>
          <p:cNvSpPr/>
          <p:nvPr/>
        </p:nvSpPr>
        <p:spPr>
          <a:xfrm>
            <a:off x="3276600" y="1676400"/>
            <a:ext cx="2590800" cy="1455241"/>
          </a:xfrm>
          <a:prstGeom prst="rect">
            <a:avLst/>
          </a:prstGeom>
          <a:solidFill>
            <a:srgbClr val="F8F9FA"/>
          </a:solidFill>
          <a:ln/>
        </p:spPr>
        <p:txBody>
          <a:bodyPr wrap="square" rtlCol="0" anchor="ctr"/>
          <a:lstStyle/>
          <a:p>
            <a:pPr indent="0" marL="0">
              <a:buNone/>
            </a:pPr>
            <a:endParaRPr lang="en-US" dirty="0"/>
          </a:p>
        </p:txBody>
      </p:sp>
      <p:sp>
        <p:nvSpPr>
          <p:cNvPr id="8" name="Text 6"/>
          <p:cNvSpPr/>
          <p:nvPr/>
        </p:nvSpPr>
        <p:spPr>
          <a:xfrm>
            <a:off x="3505200" y="1905000"/>
            <a:ext cx="2176272" cy="205680"/>
          </a:xfrm>
          <a:prstGeom prst="rect">
            <a:avLst/>
          </a:prstGeom>
          <a:noFill/>
          <a:ln/>
        </p:spPr>
        <p:txBody>
          <a:bodyPr wrap="square" lIns="0" tIns="0" rIns="0" bIns="0" rtlCol="0" anchor="t"/>
          <a:lstStyle/>
          <a:p>
            <a:pPr algn="l" indent="0" marL="0">
              <a:lnSpc>
                <a:spcPts val="1620"/>
              </a:lnSpc>
              <a:buNone/>
            </a:pPr>
            <a:r>
              <a:rPr lang="en-US" sz="1350" b="1" dirty="0">
                <a:solidFill>
                  <a:srgbClr val="16697A"/>
                </a:solidFill>
                <a:latin typeface="Arial" pitchFamily="34" charset="0"/>
                <a:ea typeface="Arial" pitchFamily="34" charset="-122"/>
                <a:cs typeface="Arial" pitchFamily="34" charset="-120"/>
              </a:rPr>
              <a:t>Critical Alerts</a:t>
            </a:r>
            <a:endParaRPr lang="en-US" sz="1350" dirty="0"/>
          </a:p>
        </p:txBody>
      </p:sp>
      <p:sp>
        <p:nvSpPr>
          <p:cNvPr id="9" name="Text 7"/>
          <p:cNvSpPr/>
          <p:nvPr/>
        </p:nvSpPr>
        <p:spPr>
          <a:xfrm>
            <a:off x="3505200" y="2415480"/>
            <a:ext cx="2176272" cy="487561"/>
          </a:xfrm>
          <a:prstGeom prst="rect">
            <a:avLst/>
          </a:prstGeom>
          <a:noFill/>
          <a:ln/>
        </p:spPr>
        <p:txBody>
          <a:bodyPr wrap="square" lIns="0" tIns="0" rIns="0" bIns="0" rtlCol="0" anchor="t"/>
          <a:lstStyle/>
          <a:p>
            <a:pPr algn="l" indent="0" marL="0">
              <a:lnSpc>
                <a:spcPts val="1920"/>
              </a:lnSpc>
              <a:spcBef>
                <a:spcPts val="1200"/>
              </a:spcBef>
              <a:buNone/>
            </a:pPr>
            <a:r>
              <a:rPr lang="en-US" sz="1200" dirty="0">
                <a:solidFill>
                  <a:srgbClr val="2C3E50"/>
                </a:solidFill>
                <a:latin typeface="Arial" pitchFamily="34" charset="0"/>
                <a:ea typeface="Arial" pitchFamily="34" charset="-122"/>
                <a:cs typeface="Arial" pitchFamily="34" charset="-120"/>
              </a:rPr>
              <a:t>Real-time notifications for urgent situations</a:t>
            </a:r>
            <a:endParaRPr lang="en-US" sz="1200" dirty="0"/>
          </a:p>
        </p:txBody>
      </p:sp>
      <p:sp>
        <p:nvSpPr>
          <p:cNvPr id="10" name="Text 8"/>
          <p:cNvSpPr/>
          <p:nvPr/>
        </p:nvSpPr>
        <p:spPr>
          <a:xfrm>
            <a:off x="6096000" y="1798290"/>
            <a:ext cx="2590800" cy="1211461"/>
          </a:xfrm>
          <a:prstGeom prst="rect">
            <a:avLst/>
          </a:prstGeom>
          <a:solidFill>
            <a:srgbClr val="F8F9FA"/>
          </a:solidFill>
          <a:ln/>
        </p:spPr>
        <p:txBody>
          <a:bodyPr wrap="square" rtlCol="0" anchor="ctr"/>
          <a:lstStyle/>
          <a:p>
            <a:pPr indent="0" marL="0">
              <a:buNone/>
            </a:pPr>
            <a:endParaRPr lang="en-US" dirty="0"/>
          </a:p>
        </p:txBody>
      </p:sp>
      <p:sp>
        <p:nvSpPr>
          <p:cNvPr id="11" name="Text 9"/>
          <p:cNvSpPr/>
          <p:nvPr/>
        </p:nvSpPr>
        <p:spPr>
          <a:xfrm>
            <a:off x="6324600" y="2026890"/>
            <a:ext cx="2176272" cy="205680"/>
          </a:xfrm>
          <a:prstGeom prst="rect">
            <a:avLst/>
          </a:prstGeom>
          <a:noFill/>
          <a:ln/>
        </p:spPr>
        <p:txBody>
          <a:bodyPr wrap="square" lIns="0" tIns="0" rIns="0" bIns="0" rtlCol="0" anchor="t"/>
          <a:lstStyle/>
          <a:p>
            <a:pPr algn="l" indent="0" marL="0">
              <a:lnSpc>
                <a:spcPts val="1620"/>
              </a:lnSpc>
              <a:buNone/>
            </a:pPr>
            <a:r>
              <a:rPr lang="en-US" sz="1350" b="1" dirty="0">
                <a:solidFill>
                  <a:srgbClr val="16697A"/>
                </a:solidFill>
                <a:latin typeface="Arial" pitchFamily="34" charset="0"/>
                <a:ea typeface="Arial" pitchFamily="34" charset="-122"/>
                <a:cs typeface="Arial" pitchFamily="34" charset="-120"/>
              </a:rPr>
              <a:t>Video Telehealth</a:t>
            </a:r>
            <a:endParaRPr lang="en-US" sz="1350" dirty="0"/>
          </a:p>
        </p:txBody>
      </p:sp>
      <p:sp>
        <p:nvSpPr>
          <p:cNvPr id="12" name="Text 10"/>
          <p:cNvSpPr/>
          <p:nvPr/>
        </p:nvSpPr>
        <p:spPr>
          <a:xfrm>
            <a:off x="6324600" y="2537371"/>
            <a:ext cx="2176272" cy="243780"/>
          </a:xfrm>
          <a:prstGeom prst="rect">
            <a:avLst/>
          </a:prstGeom>
          <a:noFill/>
          <a:ln/>
        </p:spPr>
        <p:txBody>
          <a:bodyPr wrap="square" lIns="0" tIns="0" rIns="0" bIns="0" rtlCol="0" anchor="t"/>
          <a:lstStyle/>
          <a:p>
            <a:pPr algn="l" indent="0" marL="0">
              <a:lnSpc>
                <a:spcPts val="1920"/>
              </a:lnSpc>
              <a:spcBef>
                <a:spcPts val="1200"/>
              </a:spcBef>
              <a:buNone/>
            </a:pPr>
            <a:r>
              <a:rPr lang="en-US" sz="1200" dirty="0">
                <a:solidFill>
                  <a:srgbClr val="2C3E50"/>
                </a:solidFill>
                <a:latin typeface="Arial" pitchFamily="34" charset="0"/>
                <a:ea typeface="Arial" pitchFamily="34" charset="-122"/>
                <a:cs typeface="Arial" pitchFamily="34" charset="-120"/>
              </a:rPr>
              <a:t>Remote specialist consultation</a:t>
            </a:r>
            <a:endParaRPr lang="en-US" sz="1200" dirty="0"/>
          </a:p>
        </p:txBody>
      </p:sp>
      <p:sp>
        <p:nvSpPr>
          <p:cNvPr id="13" name="Text 11"/>
          <p:cNvSpPr/>
          <p:nvPr/>
        </p:nvSpPr>
        <p:spPr>
          <a:xfrm>
            <a:off x="457200" y="3436441"/>
            <a:ext cx="8394192" cy="243780"/>
          </a:xfrm>
          <a:prstGeom prst="rect">
            <a:avLst/>
          </a:prstGeom>
          <a:noFill/>
          <a:ln/>
        </p:spPr>
        <p:txBody>
          <a:bodyPr wrap="square" lIns="0" tIns="0" rIns="0" bIns="0" rtlCol="0" anchor="t"/>
          <a:lstStyle/>
          <a:p>
            <a:pPr algn="l" indent="0" marL="0">
              <a:lnSpc>
                <a:spcPts val="1920"/>
              </a:lnSpc>
              <a:buNone/>
            </a:pPr>
            <a:r>
              <a:rPr lang="en-US" sz="1200" b="1" dirty="0">
                <a:solidFill>
                  <a:srgbClr val="2C3E50"/>
                </a:solidFill>
                <a:latin typeface="Arial" pitchFamily="34" charset="0"/>
                <a:ea typeface="Arial" pitchFamily="34" charset="-122"/>
                <a:cs typeface="Arial" pitchFamily="34" charset="-120"/>
              </a:rPr>
              <a:t>Result:</a:t>
            </a:r>
            <a:pPr algn="l" indent="0" marL="0">
              <a:lnSpc>
                <a:spcPts val="1920"/>
              </a:lnSpc>
              <a:buNone/>
            </a:pPr>
            <a:r>
              <a:rPr lang="en-US" sz="1200" dirty="0">
                <a:solidFill>
                  <a:srgbClr val="2C3E50"/>
                </a:solidFill>
                <a:latin typeface="Arial" pitchFamily="34" charset="0"/>
                <a:ea typeface="Arial" pitchFamily="34" charset="-122"/>
                <a:cs typeface="Arial" pitchFamily="34" charset="-120"/>
              </a:rPr>
              <a:t> Faster response times and reduced communication errors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5372672" cy="381000"/>
          </a:xfrm>
          <a:prstGeom prst="rect">
            <a:avLst/>
          </a:prstGeom>
          <a:noFill/>
          <a:ln/>
        </p:spPr>
        <p:txBody>
          <a:bodyPr wrap="square" lIns="0" tIns="0" rIns="0" bIns="0" rtlCol="0" anchor="t"/>
          <a:lstStyle/>
          <a:p>
            <a:pPr algn="l" indent="0" marL="0">
              <a:lnSpc>
                <a:spcPts val="3000"/>
              </a:lnSpc>
              <a:buNone/>
            </a:pPr>
            <a:r>
              <a:rPr lang="en-US" sz="2700" b="1" dirty="0">
                <a:solidFill>
                  <a:srgbClr val="16697A"/>
                </a:solidFill>
                <a:latin typeface="Arial" pitchFamily="34" charset="0"/>
                <a:ea typeface="Arial" pitchFamily="34" charset="-122"/>
                <a:cs typeface="Arial" pitchFamily="34" charset="-120"/>
              </a:rPr>
              <a:t>Data Analytics for Patient Safety</a:t>
            </a:r>
            <a:endParaRPr lang="en-US" sz="2700" dirty="0"/>
          </a:p>
        </p:txBody>
      </p:sp>
      <p:sp>
        <p:nvSpPr>
          <p:cNvPr id="3" name="Text 1"/>
          <p:cNvSpPr/>
          <p:nvPr/>
        </p:nvSpPr>
        <p:spPr>
          <a:xfrm>
            <a:off x="457200" y="1066800"/>
            <a:ext cx="8394192" cy="228600"/>
          </a:xfrm>
          <a:prstGeom prst="rect">
            <a:avLst/>
          </a:prstGeom>
          <a:noFill/>
          <a:ln/>
        </p:spPr>
        <p:txBody>
          <a:bodyPr wrap="square" lIns="0" tIns="0" rIns="0" bIns="0" rtlCol="0" anchor="t"/>
          <a:lstStyle/>
          <a:p>
            <a:pPr algn="l" indent="0" marL="0">
              <a:lnSpc>
                <a:spcPts val="1800"/>
              </a:lnSpc>
              <a:buNone/>
            </a:pPr>
            <a:r>
              <a:rPr lang="en-US" sz="1500" b="1" dirty="0">
                <a:solidFill>
                  <a:srgbClr val="16697A"/>
                </a:solidFill>
                <a:latin typeface="Arial" pitchFamily="34" charset="0"/>
                <a:ea typeface="Arial" pitchFamily="34" charset="-122"/>
                <a:cs typeface="Arial" pitchFamily="34" charset="-120"/>
              </a:rPr>
              <a:t>Predictive Analytics Applications</a:t>
            </a:r>
            <a:endParaRPr lang="en-US" sz="1500" dirty="0"/>
          </a:p>
        </p:txBody>
      </p:sp>
      <p:sp>
        <p:nvSpPr>
          <p:cNvPr id="4" name="Text 2"/>
          <p:cNvSpPr/>
          <p:nvPr/>
        </p:nvSpPr>
        <p:spPr>
          <a:xfrm>
            <a:off x="457200" y="1447800"/>
            <a:ext cx="8229600" cy="1485900"/>
          </a:xfrm>
          <a:prstGeom prst="rect">
            <a:avLst/>
          </a:prstGeom>
          <a:noFill/>
          <a:ln/>
        </p:spPr>
        <p:txBody>
          <a:bodyPr wrap="square" lIns="85725" tIns="0" rIns="0" bIns="0" rtlCol="0" anchor="t"/>
          <a:lstStyle/>
          <a:p>
            <a:pPr algn="l" marL="85725" indent="-85725">
              <a:lnSpc>
                <a:spcPts val="2100"/>
              </a:lnSpc>
              <a:buSzPct val="100000"/>
              <a:buChar char="•"/>
            </a:pPr>
            <a:r>
              <a:rPr lang="en-US" sz="1350" dirty="0">
                <a:solidFill>
                  <a:srgbClr val="2C3E50"/>
                </a:solidFill>
                <a:latin typeface="Arial" pitchFamily="34" charset="0"/>
                <a:ea typeface="Arial" pitchFamily="34" charset="-122"/>
                <a:cs typeface="Arial" pitchFamily="34" charset="-120"/>
              </a:rPr>
              <a:t>Early warning scores for patient deterioration</a:t>
            </a:r>
            <a:endParaRPr lang="en-US" sz="1350" dirty="0"/>
          </a:p>
          <a:p>
            <a:pPr algn="l" marL="85725" indent="-85725">
              <a:lnSpc>
                <a:spcPts val="2100"/>
              </a:lnSpc>
              <a:buSzPct val="100000"/>
              <a:buChar char="•"/>
            </a:pPr>
            <a:r>
              <a:rPr lang="en-US" sz="1350" dirty="0">
                <a:solidFill>
                  <a:srgbClr val="2C3E50"/>
                </a:solidFill>
                <a:latin typeface="Arial" pitchFamily="34" charset="0"/>
                <a:ea typeface="Arial" pitchFamily="34" charset="-122"/>
                <a:cs typeface="Arial" pitchFamily="34" charset="-120"/>
              </a:rPr>
              <a:t>Readmission risk prediction</a:t>
            </a:r>
            <a:endParaRPr lang="en-US" sz="1350" dirty="0"/>
          </a:p>
          <a:p>
            <a:pPr algn="l" marL="85725" indent="-85725">
              <a:lnSpc>
                <a:spcPts val="2100"/>
              </a:lnSpc>
              <a:buSzPct val="100000"/>
              <a:buChar char="•"/>
            </a:pPr>
            <a:r>
              <a:rPr lang="en-US" sz="1350" dirty="0">
                <a:solidFill>
                  <a:srgbClr val="2C3E50"/>
                </a:solidFill>
                <a:latin typeface="Arial" pitchFamily="34" charset="0"/>
                <a:ea typeface="Arial" pitchFamily="34" charset="-122"/>
                <a:cs typeface="Arial" pitchFamily="34" charset="-120"/>
              </a:rPr>
              <a:t>Sepsis detection algorithms</a:t>
            </a:r>
            <a:endParaRPr lang="en-US" sz="1350" dirty="0"/>
          </a:p>
          <a:p>
            <a:pPr algn="l" marL="85725" indent="-85725">
              <a:lnSpc>
                <a:spcPts val="2100"/>
              </a:lnSpc>
              <a:buSzPct val="100000"/>
              <a:buChar char="•"/>
            </a:pPr>
            <a:r>
              <a:rPr lang="en-US" sz="1350" dirty="0">
                <a:solidFill>
                  <a:srgbClr val="2C3E50"/>
                </a:solidFill>
                <a:latin typeface="Arial" pitchFamily="34" charset="0"/>
                <a:ea typeface="Arial" pitchFamily="34" charset="-122"/>
                <a:cs typeface="Arial" pitchFamily="34" charset="-120"/>
              </a:rPr>
              <a:t>Adverse event pattern identification</a:t>
            </a:r>
            <a:endParaRPr lang="en-US" sz="1350" dirty="0"/>
          </a:p>
          <a:p>
            <a:pPr algn="l" marL="85725" indent="-85725">
              <a:lnSpc>
                <a:spcPts val="2100"/>
              </a:lnSpc>
              <a:buSzPct val="100000"/>
              <a:buChar char="•"/>
            </a:pPr>
            <a:r>
              <a:rPr lang="en-US" sz="1350" dirty="0">
                <a:solidFill>
                  <a:srgbClr val="2C3E50"/>
                </a:solidFill>
                <a:latin typeface="Arial" pitchFamily="34" charset="0"/>
                <a:ea typeface="Arial" pitchFamily="34" charset="-122"/>
                <a:cs typeface="Arial" pitchFamily="34" charset="-120"/>
              </a:rPr>
              <a:t>Staffing optimization based on patient acuity</a:t>
            </a:r>
            <a:endParaRPr lang="en-US" sz="1350" dirty="0"/>
          </a:p>
        </p:txBody>
      </p:sp>
      <p:sp>
        <p:nvSpPr>
          <p:cNvPr id="5" name="Text 3"/>
          <p:cNvSpPr/>
          <p:nvPr/>
        </p:nvSpPr>
        <p:spPr>
          <a:xfrm>
            <a:off x="457200" y="3162300"/>
            <a:ext cx="8229600" cy="731490"/>
          </a:xfrm>
          <a:prstGeom prst="rect">
            <a:avLst/>
          </a:prstGeom>
          <a:solidFill>
            <a:srgbClr val="F8F9FA"/>
          </a:solidFill>
          <a:ln/>
        </p:spPr>
        <p:txBody>
          <a:bodyPr wrap="square" rtlCol="0" anchor="ctr"/>
          <a:lstStyle/>
          <a:p>
            <a:pPr indent="0" marL="0">
              <a:buNone/>
            </a:pPr>
            <a:endParaRPr lang="en-US" dirty="0"/>
          </a:p>
        </p:txBody>
      </p:sp>
      <p:sp>
        <p:nvSpPr>
          <p:cNvPr id="6" name="Shape 4"/>
          <p:cNvSpPr/>
          <p:nvPr/>
        </p:nvSpPr>
        <p:spPr>
          <a:xfrm>
            <a:off x="485775" y="3162300"/>
            <a:ext cx="0" cy="731490"/>
          </a:xfrm>
          <a:prstGeom prst="line">
            <a:avLst/>
          </a:prstGeom>
          <a:noFill/>
          <a:ln w="57150">
            <a:solidFill>
              <a:srgbClr val="FF6B6B"/>
            </a:solidFill>
            <a:prstDash val="solid"/>
          </a:ln>
        </p:spPr>
      </p:sp>
      <p:sp>
        <p:nvSpPr>
          <p:cNvPr id="7" name="Text 5"/>
          <p:cNvSpPr/>
          <p:nvPr/>
        </p:nvSpPr>
        <p:spPr>
          <a:xfrm>
            <a:off x="742950" y="3390900"/>
            <a:ext cx="7869555" cy="274290"/>
          </a:xfrm>
          <a:prstGeom prst="rect">
            <a:avLst/>
          </a:prstGeom>
          <a:noFill/>
          <a:ln/>
        </p:spPr>
        <p:txBody>
          <a:bodyPr wrap="square" lIns="0" tIns="0" rIns="0" bIns="0" rtlCol="0" anchor="t"/>
          <a:lstStyle/>
          <a:p>
            <a:pPr algn="l" indent="0" marL="0">
              <a:lnSpc>
                <a:spcPts val="2160"/>
              </a:lnSpc>
              <a:buNone/>
            </a:pPr>
            <a:r>
              <a:rPr lang="en-US" sz="1350" b="1" dirty="0">
                <a:solidFill>
                  <a:srgbClr val="FF6B6B"/>
                </a:solidFill>
                <a:latin typeface="Arial" pitchFamily="34" charset="0"/>
                <a:ea typeface="Arial" pitchFamily="34" charset="-122"/>
                <a:cs typeface="Arial" pitchFamily="34" charset="-120"/>
              </a:rPr>
              <a:t>Machine learning</a:t>
            </a:r>
            <a:pPr algn="l" indent="0" marL="0">
              <a:lnSpc>
                <a:spcPts val="2160"/>
              </a:lnSpc>
              <a:buNone/>
            </a:pPr>
            <a:r>
              <a:rPr lang="en-US" sz="1350" dirty="0">
                <a:solidFill>
                  <a:srgbClr val="2C3E50"/>
                </a:solidFill>
                <a:latin typeface="Arial" pitchFamily="34" charset="0"/>
                <a:ea typeface="Arial" pitchFamily="34" charset="-122"/>
                <a:cs typeface="Arial" pitchFamily="34" charset="-120"/>
              </a:rPr>
              <a:t> can identify safety risks before they become adverse events</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5100638" cy="381000"/>
          </a:xfrm>
          <a:prstGeom prst="rect">
            <a:avLst/>
          </a:prstGeom>
          <a:noFill/>
          <a:ln/>
        </p:spPr>
        <p:txBody>
          <a:bodyPr wrap="square" lIns="0" tIns="0" rIns="0" bIns="0" rtlCol="0" anchor="t"/>
          <a:lstStyle/>
          <a:p>
            <a:pPr algn="l" indent="0" marL="0">
              <a:lnSpc>
                <a:spcPts val="3000"/>
              </a:lnSpc>
              <a:buNone/>
            </a:pPr>
            <a:r>
              <a:rPr lang="en-US" sz="2700" b="1" dirty="0">
                <a:solidFill>
                  <a:srgbClr val="16697A"/>
                </a:solidFill>
                <a:latin typeface="Arial" pitchFamily="34" charset="0"/>
                <a:ea typeface="Arial" pitchFamily="34" charset="-122"/>
                <a:cs typeface="Arial" pitchFamily="34" charset="-120"/>
              </a:rPr>
              <a:t>Implementation Best Practices</a:t>
            </a:r>
            <a:endParaRPr lang="en-US" sz="2700" dirty="0"/>
          </a:p>
        </p:txBody>
      </p:sp>
      <p:sp>
        <p:nvSpPr>
          <p:cNvPr id="3" name="Text 1"/>
          <p:cNvSpPr/>
          <p:nvPr/>
        </p:nvSpPr>
        <p:spPr>
          <a:xfrm>
            <a:off x="457200" y="1143000"/>
            <a:ext cx="4000500" cy="1059061"/>
          </a:xfrm>
          <a:prstGeom prst="roundRect">
            <a:avLst>
              <a:gd name="adj" fmla="val 7195"/>
            </a:avLst>
          </a:prstGeom>
          <a:solidFill>
            <a:srgbClr val="16697A"/>
          </a:solidFill>
          <a:ln/>
        </p:spPr>
        <p:txBody>
          <a:bodyPr wrap="square" rtlCol="0" anchor="ctr"/>
          <a:lstStyle/>
          <a:p>
            <a:pPr indent="0" marL="0">
              <a:buNone/>
            </a:pPr>
            <a:endParaRPr lang="en-US" dirty="0"/>
          </a:p>
        </p:txBody>
      </p:sp>
      <p:sp>
        <p:nvSpPr>
          <p:cNvPr id="4" name="Text 2"/>
          <p:cNvSpPr/>
          <p:nvPr/>
        </p:nvSpPr>
        <p:spPr>
          <a:xfrm>
            <a:off x="685800" y="1371600"/>
            <a:ext cx="3614166" cy="205680"/>
          </a:xfrm>
          <a:prstGeom prst="rect">
            <a:avLst/>
          </a:prstGeom>
          <a:noFill/>
          <a:ln/>
        </p:spPr>
        <p:txBody>
          <a:bodyPr wrap="square" lIns="0" tIns="0" rIns="0" bIns="0" rtlCol="0" anchor="t"/>
          <a:lstStyle/>
          <a:p>
            <a:pPr algn="l" indent="0" marL="0">
              <a:lnSpc>
                <a:spcPts val="1620"/>
              </a:lnSpc>
              <a:buNone/>
            </a:pPr>
            <a:r>
              <a:rPr lang="en-US" sz="1350" b="1" dirty="0">
                <a:solidFill>
                  <a:srgbClr val="FFFFFF"/>
                </a:solidFill>
                <a:latin typeface="Arial" pitchFamily="34" charset="0"/>
                <a:ea typeface="Arial" pitchFamily="34" charset="-122"/>
                <a:cs typeface="Arial" pitchFamily="34" charset="-120"/>
              </a:rPr>
              <a:t>1. Staff Training</a:t>
            </a:r>
            <a:endParaRPr lang="en-US" sz="1350" dirty="0"/>
          </a:p>
        </p:txBody>
      </p:sp>
      <p:sp>
        <p:nvSpPr>
          <p:cNvPr id="5" name="Text 3"/>
          <p:cNvSpPr/>
          <p:nvPr/>
        </p:nvSpPr>
        <p:spPr>
          <a:xfrm>
            <a:off x="685800" y="1729680"/>
            <a:ext cx="3614166" cy="243780"/>
          </a:xfrm>
          <a:prstGeom prst="rect">
            <a:avLst/>
          </a:prstGeom>
          <a:noFill/>
          <a:ln/>
        </p:spPr>
        <p:txBody>
          <a:bodyPr wrap="square" lIns="0" tIns="0" rIns="0" bIns="0" rtlCol="0" anchor="t"/>
          <a:lstStyle/>
          <a:p>
            <a:pPr algn="l" indent="0" marL="0">
              <a:lnSpc>
                <a:spcPts val="1920"/>
              </a:lnSpc>
              <a:spcBef>
                <a:spcPts val="1200"/>
              </a:spcBef>
              <a:buNone/>
            </a:pPr>
            <a:r>
              <a:rPr lang="en-US" sz="1200" dirty="0">
                <a:solidFill>
                  <a:srgbClr val="FFFFFF"/>
                </a:solidFill>
                <a:latin typeface="Arial" pitchFamily="34" charset="0"/>
                <a:ea typeface="Arial" pitchFamily="34" charset="-122"/>
                <a:cs typeface="Arial" pitchFamily="34" charset="-120"/>
              </a:rPr>
              <a:t>Comprehensive education and ongoing support</a:t>
            </a:r>
            <a:endParaRPr lang="en-US" sz="1200" dirty="0"/>
          </a:p>
        </p:txBody>
      </p:sp>
      <p:sp>
        <p:nvSpPr>
          <p:cNvPr id="6" name="Text 4"/>
          <p:cNvSpPr/>
          <p:nvPr/>
        </p:nvSpPr>
        <p:spPr>
          <a:xfrm>
            <a:off x="4686300" y="1143000"/>
            <a:ext cx="4000500" cy="1059061"/>
          </a:xfrm>
          <a:prstGeom prst="roundRect">
            <a:avLst>
              <a:gd name="adj" fmla="val 7195"/>
            </a:avLst>
          </a:prstGeom>
          <a:solidFill>
            <a:srgbClr val="FF6B6B"/>
          </a:solidFill>
          <a:ln/>
        </p:spPr>
        <p:txBody>
          <a:bodyPr wrap="square" rtlCol="0" anchor="ctr"/>
          <a:lstStyle/>
          <a:p>
            <a:pPr indent="0" marL="0">
              <a:buNone/>
            </a:pPr>
            <a:endParaRPr lang="en-US" dirty="0"/>
          </a:p>
        </p:txBody>
      </p:sp>
      <p:sp>
        <p:nvSpPr>
          <p:cNvPr id="7" name="Text 5"/>
          <p:cNvSpPr/>
          <p:nvPr/>
        </p:nvSpPr>
        <p:spPr>
          <a:xfrm>
            <a:off x="4914900" y="1371600"/>
            <a:ext cx="3614166" cy="205680"/>
          </a:xfrm>
          <a:prstGeom prst="rect">
            <a:avLst/>
          </a:prstGeom>
          <a:noFill/>
          <a:ln/>
        </p:spPr>
        <p:txBody>
          <a:bodyPr wrap="square" lIns="0" tIns="0" rIns="0" bIns="0" rtlCol="0" anchor="t"/>
          <a:lstStyle/>
          <a:p>
            <a:pPr algn="l" indent="0" marL="0">
              <a:lnSpc>
                <a:spcPts val="1620"/>
              </a:lnSpc>
              <a:buNone/>
            </a:pPr>
            <a:r>
              <a:rPr lang="en-US" sz="1350" b="1" dirty="0">
                <a:solidFill>
                  <a:srgbClr val="FFFFFF"/>
                </a:solidFill>
                <a:latin typeface="Arial" pitchFamily="34" charset="0"/>
                <a:ea typeface="Arial" pitchFamily="34" charset="-122"/>
                <a:cs typeface="Arial" pitchFamily="34" charset="-120"/>
              </a:rPr>
              <a:t>2. Workflow Integration</a:t>
            </a:r>
            <a:endParaRPr lang="en-US" sz="1350" dirty="0"/>
          </a:p>
        </p:txBody>
      </p:sp>
      <p:sp>
        <p:nvSpPr>
          <p:cNvPr id="8" name="Text 6"/>
          <p:cNvSpPr/>
          <p:nvPr/>
        </p:nvSpPr>
        <p:spPr>
          <a:xfrm>
            <a:off x="4914900" y="1729680"/>
            <a:ext cx="3614166" cy="243780"/>
          </a:xfrm>
          <a:prstGeom prst="rect">
            <a:avLst/>
          </a:prstGeom>
          <a:noFill/>
          <a:ln/>
        </p:spPr>
        <p:txBody>
          <a:bodyPr wrap="square" lIns="0" tIns="0" rIns="0" bIns="0" rtlCol="0" anchor="t"/>
          <a:lstStyle/>
          <a:p>
            <a:pPr algn="l" indent="0" marL="0">
              <a:lnSpc>
                <a:spcPts val="1920"/>
              </a:lnSpc>
              <a:spcBef>
                <a:spcPts val="1200"/>
              </a:spcBef>
              <a:buNone/>
            </a:pPr>
            <a:r>
              <a:rPr lang="en-US" sz="1200" dirty="0">
                <a:solidFill>
                  <a:srgbClr val="FFFFFF"/>
                </a:solidFill>
                <a:latin typeface="Arial" pitchFamily="34" charset="0"/>
                <a:ea typeface="Arial" pitchFamily="34" charset="-122"/>
                <a:cs typeface="Arial" pitchFamily="34" charset="-120"/>
              </a:rPr>
              <a:t>Align technology with clinical processes</a:t>
            </a:r>
            <a:endParaRPr lang="en-US" sz="1200" dirty="0"/>
          </a:p>
        </p:txBody>
      </p:sp>
      <p:sp>
        <p:nvSpPr>
          <p:cNvPr id="9" name="Text 7"/>
          <p:cNvSpPr/>
          <p:nvPr/>
        </p:nvSpPr>
        <p:spPr>
          <a:xfrm>
            <a:off x="457200" y="2430661"/>
            <a:ext cx="4000500" cy="1059061"/>
          </a:xfrm>
          <a:prstGeom prst="roundRect">
            <a:avLst>
              <a:gd name="adj" fmla="val 7195"/>
            </a:avLst>
          </a:prstGeom>
          <a:solidFill>
            <a:srgbClr val="2C3E50"/>
          </a:solidFill>
          <a:ln/>
        </p:spPr>
        <p:txBody>
          <a:bodyPr wrap="square" rtlCol="0" anchor="ctr"/>
          <a:lstStyle/>
          <a:p>
            <a:pPr indent="0" marL="0">
              <a:buNone/>
            </a:pPr>
            <a:endParaRPr lang="en-US" dirty="0"/>
          </a:p>
        </p:txBody>
      </p:sp>
      <p:sp>
        <p:nvSpPr>
          <p:cNvPr id="10" name="Text 8"/>
          <p:cNvSpPr/>
          <p:nvPr/>
        </p:nvSpPr>
        <p:spPr>
          <a:xfrm>
            <a:off x="685800" y="2659261"/>
            <a:ext cx="3614166" cy="205680"/>
          </a:xfrm>
          <a:prstGeom prst="rect">
            <a:avLst/>
          </a:prstGeom>
          <a:noFill/>
          <a:ln/>
        </p:spPr>
        <p:txBody>
          <a:bodyPr wrap="square" lIns="0" tIns="0" rIns="0" bIns="0" rtlCol="0" anchor="t"/>
          <a:lstStyle/>
          <a:p>
            <a:pPr algn="l" indent="0" marL="0">
              <a:lnSpc>
                <a:spcPts val="1620"/>
              </a:lnSpc>
              <a:buNone/>
            </a:pPr>
            <a:r>
              <a:rPr lang="en-US" sz="1350" b="1" dirty="0">
                <a:solidFill>
                  <a:srgbClr val="FFFFFF"/>
                </a:solidFill>
                <a:latin typeface="Arial" pitchFamily="34" charset="0"/>
                <a:ea typeface="Arial" pitchFamily="34" charset="-122"/>
                <a:cs typeface="Arial" pitchFamily="34" charset="-120"/>
              </a:rPr>
              <a:t>3. Continuous Monitoring</a:t>
            </a:r>
            <a:endParaRPr lang="en-US" sz="1350" dirty="0"/>
          </a:p>
        </p:txBody>
      </p:sp>
      <p:sp>
        <p:nvSpPr>
          <p:cNvPr id="11" name="Text 9"/>
          <p:cNvSpPr/>
          <p:nvPr/>
        </p:nvSpPr>
        <p:spPr>
          <a:xfrm>
            <a:off x="685800" y="3017341"/>
            <a:ext cx="3614166" cy="243780"/>
          </a:xfrm>
          <a:prstGeom prst="rect">
            <a:avLst/>
          </a:prstGeom>
          <a:noFill/>
          <a:ln/>
        </p:spPr>
        <p:txBody>
          <a:bodyPr wrap="square" lIns="0" tIns="0" rIns="0" bIns="0" rtlCol="0" anchor="t"/>
          <a:lstStyle/>
          <a:p>
            <a:pPr algn="l" indent="0" marL="0">
              <a:lnSpc>
                <a:spcPts val="1920"/>
              </a:lnSpc>
              <a:spcBef>
                <a:spcPts val="1200"/>
              </a:spcBef>
              <a:buNone/>
            </a:pPr>
            <a:r>
              <a:rPr lang="en-US" sz="1200" dirty="0">
                <a:solidFill>
                  <a:srgbClr val="FFFFFF"/>
                </a:solidFill>
                <a:latin typeface="Arial" pitchFamily="34" charset="0"/>
                <a:ea typeface="Arial" pitchFamily="34" charset="-122"/>
                <a:cs typeface="Arial" pitchFamily="34" charset="-120"/>
              </a:rPr>
              <a:t>Track metrics and adjust strategies</a:t>
            </a:r>
            <a:endParaRPr lang="en-US" sz="1200" dirty="0"/>
          </a:p>
        </p:txBody>
      </p:sp>
      <p:sp>
        <p:nvSpPr>
          <p:cNvPr id="12" name="Text 10"/>
          <p:cNvSpPr/>
          <p:nvPr/>
        </p:nvSpPr>
        <p:spPr>
          <a:xfrm>
            <a:off x="4686300" y="2430661"/>
            <a:ext cx="4000500" cy="1059061"/>
          </a:xfrm>
          <a:prstGeom prst="roundRect">
            <a:avLst>
              <a:gd name="adj" fmla="val 7195"/>
            </a:avLst>
          </a:prstGeom>
          <a:solidFill>
            <a:srgbClr val="95A5A6"/>
          </a:solidFill>
          <a:ln/>
        </p:spPr>
        <p:txBody>
          <a:bodyPr wrap="square" rtlCol="0" anchor="ctr"/>
          <a:lstStyle/>
          <a:p>
            <a:pPr indent="0" marL="0">
              <a:buNone/>
            </a:pPr>
            <a:endParaRPr lang="en-US" dirty="0"/>
          </a:p>
        </p:txBody>
      </p:sp>
      <p:sp>
        <p:nvSpPr>
          <p:cNvPr id="13" name="Text 11"/>
          <p:cNvSpPr/>
          <p:nvPr/>
        </p:nvSpPr>
        <p:spPr>
          <a:xfrm>
            <a:off x="4914900" y="2659261"/>
            <a:ext cx="3614166" cy="205680"/>
          </a:xfrm>
          <a:prstGeom prst="rect">
            <a:avLst/>
          </a:prstGeom>
          <a:noFill/>
          <a:ln/>
        </p:spPr>
        <p:txBody>
          <a:bodyPr wrap="square" lIns="0" tIns="0" rIns="0" bIns="0" rtlCol="0" anchor="t"/>
          <a:lstStyle/>
          <a:p>
            <a:pPr algn="l" indent="0" marL="0">
              <a:lnSpc>
                <a:spcPts val="1620"/>
              </a:lnSpc>
              <a:buNone/>
            </a:pPr>
            <a:r>
              <a:rPr lang="en-US" sz="1350" b="1" dirty="0">
                <a:solidFill>
                  <a:srgbClr val="FFFFFF"/>
                </a:solidFill>
                <a:latin typeface="Arial" pitchFamily="34" charset="0"/>
                <a:ea typeface="Arial" pitchFamily="34" charset="-122"/>
                <a:cs typeface="Arial" pitchFamily="34" charset="-120"/>
              </a:rPr>
              <a:t>4. Culture of Safety</a:t>
            </a:r>
            <a:endParaRPr lang="en-US" sz="1350" dirty="0"/>
          </a:p>
        </p:txBody>
      </p:sp>
      <p:sp>
        <p:nvSpPr>
          <p:cNvPr id="14" name="Text 12"/>
          <p:cNvSpPr/>
          <p:nvPr/>
        </p:nvSpPr>
        <p:spPr>
          <a:xfrm>
            <a:off x="4914900" y="3017341"/>
            <a:ext cx="3614166" cy="243780"/>
          </a:xfrm>
          <a:prstGeom prst="rect">
            <a:avLst/>
          </a:prstGeom>
          <a:noFill/>
          <a:ln/>
        </p:spPr>
        <p:txBody>
          <a:bodyPr wrap="square" lIns="0" tIns="0" rIns="0" bIns="0" rtlCol="0" anchor="t"/>
          <a:lstStyle/>
          <a:p>
            <a:pPr algn="l" indent="0" marL="0">
              <a:lnSpc>
                <a:spcPts val="1920"/>
              </a:lnSpc>
              <a:spcBef>
                <a:spcPts val="1200"/>
              </a:spcBef>
              <a:buNone/>
            </a:pPr>
            <a:r>
              <a:rPr lang="en-US" sz="1200" dirty="0">
                <a:solidFill>
                  <a:srgbClr val="FFFFFF"/>
                </a:solidFill>
                <a:latin typeface="Arial" pitchFamily="34" charset="0"/>
                <a:ea typeface="Arial" pitchFamily="34" charset="-122"/>
                <a:cs typeface="Arial" pitchFamily="34" charset="-120"/>
              </a:rPr>
              <a:t>Leadership commitment and open reporting</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862591" y="942975"/>
            <a:ext cx="5418668" cy="400050"/>
          </a:xfrm>
          <a:prstGeom prst="rect">
            <a:avLst/>
          </a:prstGeom>
          <a:noFill/>
          <a:ln/>
        </p:spPr>
        <p:txBody>
          <a:bodyPr wrap="square" lIns="0" tIns="0" rIns="0" bIns="0" rtlCol="0" anchor="t"/>
          <a:lstStyle/>
          <a:p>
            <a:pPr algn="ctr" indent="0" marL="0">
              <a:lnSpc>
                <a:spcPts val="3150"/>
              </a:lnSpc>
              <a:buNone/>
            </a:pPr>
            <a:r>
              <a:rPr lang="en-US" sz="3150" b="1" dirty="0">
                <a:solidFill>
                  <a:srgbClr val="FFFFFF"/>
                </a:solidFill>
                <a:latin typeface="Arial" pitchFamily="34" charset="0"/>
                <a:ea typeface="Arial" pitchFamily="34" charset="-122"/>
                <a:cs typeface="Arial" pitchFamily="34" charset="-120"/>
              </a:rPr>
              <a:t>The Future of Patient Safety</a:t>
            </a:r>
            <a:endParaRPr lang="en-US" sz="3150" dirty="0"/>
          </a:p>
        </p:txBody>
      </p:sp>
      <p:sp>
        <p:nvSpPr>
          <p:cNvPr id="3" name="Text 1"/>
          <p:cNvSpPr/>
          <p:nvPr/>
        </p:nvSpPr>
        <p:spPr>
          <a:xfrm>
            <a:off x="2791569" y="1952625"/>
            <a:ext cx="3560862" cy="1181100"/>
          </a:xfrm>
          <a:prstGeom prst="rect">
            <a:avLst/>
          </a:prstGeom>
          <a:noFill/>
          <a:ln/>
        </p:spPr>
        <p:txBody>
          <a:bodyPr wrap="square" lIns="95250" tIns="0" rIns="0" bIns="0" rtlCol="0" anchor="t"/>
          <a:lstStyle/>
          <a:p>
            <a:pPr algn="l" marL="95250" indent="-95250">
              <a:lnSpc>
                <a:spcPts val="2100"/>
              </a:lnSpc>
              <a:buSzPct val="100000"/>
              <a:buChar char="•"/>
            </a:pPr>
            <a:r>
              <a:rPr lang="en-US" sz="1350" dirty="0">
                <a:solidFill>
                  <a:srgbClr val="FFFFFF"/>
                </a:solidFill>
                <a:latin typeface="Arial" pitchFamily="34" charset="0"/>
                <a:ea typeface="Arial" pitchFamily="34" charset="-122"/>
                <a:cs typeface="Arial" pitchFamily="34" charset="-120"/>
              </a:rPr>
              <a:t>AI-powered clinical decision support</a:t>
            </a:r>
            <a:endParaRPr lang="en-US" sz="1350" dirty="0"/>
          </a:p>
          <a:p>
            <a:pPr algn="l" marL="95250" indent="-95250">
              <a:lnSpc>
                <a:spcPts val="2100"/>
              </a:lnSpc>
              <a:buSzPct val="100000"/>
              <a:buChar char="•"/>
            </a:pPr>
            <a:r>
              <a:rPr lang="en-US" sz="1350" dirty="0">
                <a:solidFill>
                  <a:srgbClr val="FFFFFF"/>
                </a:solidFill>
                <a:latin typeface="Arial" pitchFamily="34" charset="0"/>
                <a:ea typeface="Arial" pitchFamily="34" charset="-122"/>
                <a:cs typeface="Arial" pitchFamily="34" charset="-120"/>
              </a:rPr>
              <a:t>Internet of Medical Things (IoMT) integration</a:t>
            </a:r>
            <a:endParaRPr lang="en-US" sz="1350" dirty="0"/>
          </a:p>
          <a:p>
            <a:pPr algn="l" marL="95250" indent="-95250">
              <a:lnSpc>
                <a:spcPts val="2100"/>
              </a:lnSpc>
              <a:buSzPct val="100000"/>
              <a:buChar char="•"/>
            </a:pPr>
            <a:r>
              <a:rPr lang="en-US" sz="1350" dirty="0">
                <a:solidFill>
                  <a:srgbClr val="FFFFFF"/>
                </a:solidFill>
                <a:latin typeface="Arial" pitchFamily="34" charset="0"/>
                <a:ea typeface="Arial" pitchFamily="34" charset="-122"/>
                <a:cs typeface="Arial" pitchFamily="34" charset="-120"/>
              </a:rPr>
              <a:t>Blockchain for secure health data</a:t>
            </a:r>
            <a:endParaRPr lang="en-US" sz="1350" dirty="0"/>
          </a:p>
          <a:p>
            <a:pPr algn="l" marL="95250" indent="-95250">
              <a:lnSpc>
                <a:spcPts val="2100"/>
              </a:lnSpc>
              <a:buSzPct val="100000"/>
              <a:buChar char="•"/>
            </a:pPr>
            <a:r>
              <a:rPr lang="en-US" sz="1350" dirty="0">
                <a:solidFill>
                  <a:srgbClr val="FFFFFF"/>
                </a:solidFill>
                <a:latin typeface="Arial" pitchFamily="34" charset="0"/>
                <a:ea typeface="Arial" pitchFamily="34" charset="-122"/>
                <a:cs typeface="Arial" pitchFamily="34" charset="-120"/>
              </a:rPr>
              <a:t>Augmented reality for procedural guidance</a:t>
            </a:r>
            <a:endParaRPr lang="en-US" sz="1350" dirty="0"/>
          </a:p>
        </p:txBody>
      </p:sp>
      <p:sp>
        <p:nvSpPr>
          <p:cNvPr id="4" name="Text 2"/>
          <p:cNvSpPr/>
          <p:nvPr/>
        </p:nvSpPr>
        <p:spPr>
          <a:xfrm>
            <a:off x="2644080" y="3895725"/>
            <a:ext cx="3855839" cy="304800"/>
          </a:xfrm>
          <a:prstGeom prst="rect">
            <a:avLst/>
          </a:prstGeom>
          <a:noFill/>
          <a:ln/>
        </p:spPr>
        <p:txBody>
          <a:bodyPr wrap="square" lIns="0" tIns="0" rIns="0" bIns="0" rtlCol="0" anchor="t"/>
          <a:lstStyle/>
          <a:p>
            <a:pPr algn="ctr" indent="0" marL="0">
              <a:lnSpc>
                <a:spcPts val="2400"/>
              </a:lnSpc>
              <a:buNone/>
            </a:pPr>
            <a:r>
              <a:rPr lang="en-US" sz="1500" dirty="0">
                <a:solidFill>
                  <a:srgbClr val="F8F9FA"/>
                </a:solidFill>
                <a:latin typeface="Arial" pitchFamily="34" charset="0"/>
                <a:ea typeface="Arial" pitchFamily="34" charset="-122"/>
                <a:cs typeface="Arial" pitchFamily="34" charset="-120"/>
              </a:rPr>
              <a:t>Technology + Human Expertise = Safer Care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Patient Safety Technology: Modern Solutions for Healthcare Excellence</dc:title>
  <dc:subject>PptxGenJS Presentation</dc:subject>
  <dc:creator>Healthcare Safety Team</dc:creator>
  <cp:lastModifiedBy>Healthcare Safety Team</cp:lastModifiedBy>
  <cp:revision>1</cp:revision>
  <dcterms:created xsi:type="dcterms:W3CDTF">2025-11-14T14:47:44Z</dcterms:created>
  <dcterms:modified xsi:type="dcterms:W3CDTF">2025-11-14T14:47:44Z</dcterms:modified>
</cp:coreProperties>
</file>