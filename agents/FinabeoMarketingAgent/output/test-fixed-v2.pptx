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viewProps" Target="viewProps.xml"/>
  <Relationship Id="rId7" Type="http://schemas.openxmlformats.org/officeDocument/2006/relationships/presProps" Target="presProps.xml"/>
  <Relationship Id="rId8" Type="http://schemas.openxmlformats.org/officeDocument/2006/relationships/theme" Target="theme/theme1.xml"/>
  <Relationship Id="rId9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>
    <p:titleStyle>
      <a:lvl1pPr algn="l">
        <a:defRPr lang="en-US" sz="4400">
          <a:solidFill>
            <a:schemeClr val="tx1"/>
          </a:solidFill>
          <a:latin typeface="Montserrat"/>
        </a:defRPr>
      </a:lvl1pPr>
    </p:titleStyle>
    <p:bodyStyle>
      <a:lvl1pPr marL="342900" indent="-342900" algn="l">
        <a:defRPr lang="en-US" sz="1800">
          <a:solidFill>
            <a:schemeClr val="tx1"/>
          </a:solidFill>
          <a:latin typeface="Montserrat"/>
        </a:defRPr>
      </a:lvl1pPr>
    </p:bodyStyle>
    <p:otherStyle>
      <a:lvl1pPr>
        <a:defRPr lang="en-US" sz="1200">
          <a:solidFill>
            <a:schemeClr val="tx1"/>
          </a:solidFill>
          <a:latin typeface="Montserra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914400" y="1828800"/>
            <a:ext cx="82296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chemeClr val="lt1"/>
                </a:solidFill>
                <a:latin typeface="Montserrat"/>
              </a:defRPr>
            </a:pPr>
            <a:r>
              <a:t>FINABEO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3200000"/>
            <a:ext cx="8229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>
                <a:solidFill>
                  <a:schemeClr val="lt1"/>
                </a:solidFill>
                <a:latin typeface="Montserrat"/>
              </a:defRPr>
            </a:pPr>
            <a:r>
              <a:t>Finabeo: Market-Service Alignment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59436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chemeClr val="accent4"/>
                </a:solidFill>
                <a:latin typeface="Montserrat"/>
              </a:defRPr>
            </a:pPr>
            <a:r>
              <a:t>April 13,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457200" y="274638"/>
            <a:ext cx="876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chemeClr val="accent1"/>
                </a:solidFill>
                <a:latin typeface="Montserrat"/>
              </a:defRPr>
            </a:pPr>
            <a:r>
              <a:t>Market Insights &amp; Trends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00000"/>
            <a:ext cx="87636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chemeClr val="dk1"/>
                </a:solidFill>
                <a:latin typeface="Montserrat"/>
              </a:defRPr>
            </a:pPr>
            <a:r>
              <a:t>Trend: Cloud Cost Management Acceleration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3900000"/>
            <a:ext cx="87636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chemeClr val="dk1"/>
                </a:solidFill>
                <a:latin typeface="Montserrat"/>
              </a:defRPr>
            </a:pPr>
            <a:r>
              <a:t>Trend: Regulated AI Adoption (Agentic AI)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457200" y="274638"/>
            <a:ext cx="876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chemeClr val="accent1"/>
                </a:solidFill>
                <a:latin typeface="Montserrat"/>
              </a:defRPr>
            </a:pPr>
            <a:r>
              <a:t>Finabeo Service Alignment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00000"/>
            <a:ext cx="87636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chemeClr val="dk1"/>
                </a:solidFill>
                <a:latin typeface="Montserrat"/>
              </a:defRPr>
            </a:pPr>
            <a:r>
              <a:t>FinOps &amp; Cloud Cost Management (98% Fit)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7200" y="4100000"/>
            <a:ext cx="87636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chemeClr val="dk1"/>
                </a:solidFill>
                <a:latin typeface="Montserrat"/>
              </a:defRPr>
            </a:pPr>
            <a:r>
              <a:t>Agentic AI Transformation (92% Fit)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457200" y="274638"/>
            <a:ext cx="876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chemeClr val="accent1"/>
                </a:solidFill>
                <a:latin typeface="Montserrat"/>
              </a:defRPr>
            </a:pPr>
            <a:r>
              <a:t>Go-to-Market Strategy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1371600"/>
            <a:ext cx="87636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chemeClr val="dk1"/>
                </a:solidFill>
                <a:latin typeface="Montserrat"/>
              </a:defRPr>
            </a:pPr>
            <a:r>
              <a:t>Target Focus: Enterprise 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