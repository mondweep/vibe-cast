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3026699137a4453" /></Relationships>
</file>

<file path=ppt/presentation.xml><?xml version="1.0" encoding="utf-8"?>
<p:presentation xmlns:p="http://schemas.openxmlformats.org/presentationml/2006/main">
  <p:sldSz cx="12192000" cy="6858000" type="screen16x9"/>
  <p:notesSz cx="6858000" cy="9144000"/>
  <p:sldMasterIdLst>
    <p:sldMasterId xmlns:r="http://schemas.openxmlformats.org/officeDocument/2006/relationships" id="2147483648" r:id="R7dae3cf6a329433e"/>
  </p:sldMasterIdLst>
  <p:sldIdLst>
    <p:sldId xmlns:r="http://schemas.openxmlformats.org/officeDocument/2006/relationships" id="256" r:id="Rb724abfeba5e444c"/>
    <p:sldId xmlns:r="http://schemas.openxmlformats.org/officeDocument/2006/relationships" id="257" r:id="Rc5ac3d8de3ac4efe"/>
    <p:sldId xmlns:r="http://schemas.openxmlformats.org/officeDocument/2006/relationships" id="258" r:id="R4fc703a9ee1d4031"/>
    <p:sldId xmlns:r="http://schemas.openxmlformats.org/officeDocument/2006/relationships" id="259" r:id="Rbed9e03bec934ccf"/>
  </p:sldIdLst>
</p:presentation>
</file>

<file path=ppt/viewProps.xml><?xml version="1.0" encoding="utf-8"?>
<p:viewPr xmlns:p="http://schemas.openxmlformats.org/presentationml/2006/main">
  <p:normalViewPr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ae3cf6a329433e" /><Relationship Type="http://schemas.openxmlformats.org/officeDocument/2006/relationships/viewProps" Target="/ppt/viewProps.xml" Id="R32b7de97edaa4321" /><Relationship Type="http://schemas.openxmlformats.org/officeDocument/2006/relationships/slide" Target="/ppt/slides/slide1.xml" Id="Rb724abfeba5e444c" /><Relationship Type="http://schemas.openxmlformats.org/officeDocument/2006/relationships/slide" Target="/ppt/slides/slide2.xml" Id="Rc5ac3d8de3ac4efe" /><Relationship Type="http://schemas.openxmlformats.org/officeDocument/2006/relationships/slide" Target="/ppt/slides/slide3.xml" Id="R4fc703a9ee1d4031" /><Relationship Type="http://schemas.openxmlformats.org/officeDocument/2006/relationships/slide" Target="/ppt/slides/slide4.xml" Id="Rbed9e03bec934ccf" /></Relationships>
</file>

<file path=ppt/slideLayouts/slideLayout1.xml><?xml version="1.0" encoding="utf-8"?>
<p:sldLayout xmlns:p="http://schemas.openxmlformats.org/presentationml/2006/main">
  <p:cSld>
    <p:spTree>
      <p:nvGrpSpPr>
        <p:cNvPr id="1" name="Group 1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de6957b4014b4c80" /><Relationship Type="http://schemas.openxmlformats.org/officeDocument/2006/relationships/slideLayout" Target="/ppt/slideLayouts/slideLayout1.xml" Id="Rd0923ddacd394d2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923ddacd394d2a"/>
  </p:sldLayoutIdLst>
  <p:txStyles/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36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28e1efa3f4f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f8aa67cee4b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978cffe6c4a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2ba712ecb4f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accent1"/>
        </a:solidFill>
      </p:bgPr>
    </p:bg>
    <p:spTree>
      <p:nvGrpSpPr>
        <p:cNvPr id="1" name="Title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8229600" cy="12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6000" b="1">
                <a:solidFill>
                  <a:schemeClr val="lt1"/>
                </a:solidFill>
                <a:latin typeface="Montserrat"/>
              </a:rPr>
              <a:t>FINABEO</a:t>
            </a:r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000"/>
            <a:ext cx="8229600" cy="20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>
                <a:solidFill>
                  <a:schemeClr val="lt1"/>
                </a:solidFill>
                <a:latin typeface="Montserrat"/>
              </a:rPr>
              <a:t>Finabeo: Market-Service Alignment</a:t>
            </a:r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3600"/>
            <a:ext cx="8229600" cy="6858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2400">
                <a:solidFill>
                  <a:schemeClr val="accent4"/>
                </a:solidFill>
                <a:latin typeface="Montserrat"/>
              </a:rPr>
              <a:t>April 13, 2026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Insights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Market Insights &amp; Trends</a:t>
            </a:r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📊 Cloud Cost Management Acceleration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Enterprises are spending 25-40% more than necessary on cloud resources without clear observability.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FinOps implementation can reduce waste by 30% in 90 days, funding future AI projects.</a:t>
            </a:r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0000"/>
            <a:ext cx="8763600" cy="24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📊 Regulated AI Adoption (Agentic AI)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Pain: Banks and insurers are hesitant to deploy autonomous agents due to compliance risks.</a:t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600">
                <a:solidFill>
                  <a:schemeClr val="dk1"/>
                </a:solidFill>
                <a:latin typeface="Montserrat"/>
              </a:rPr>
              <a:t>Opportunity: Finabeo's 'Human-in-the-Loop' orchestration ensures every automated decision is audited and approved.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Alignment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Finabeo Service Alignment</a:t>
            </a:r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✓ FinOps &amp; Cloud Cost Management (98%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Directly addresses the #1 priority for CIOs in 2026: containing uncontrolled cloud spend and technical debt.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30%+ reduction in wasted cloud compute and storage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Predictable AI unit economics and performance monitoring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Governance-first approach to multi-cloud resource allocation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Real-time visibility into cost per AI-driven decision</a:t>
            </a:r>
          </a:p>
        </p:txBody>
      </p:sp>
      <p:sp>
        <p:nvSpPr>
          <p:cNvPr id="4" name="Shape 4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0000"/>
            <a:ext cx="8763600" cy="26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✓ Agentic AI Transformation (Microsoft Framework) (92% Fit)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Transforms reactive AI search into proactive, governed agents using the Microsoft Agent Framework and Azure AI Foundry.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Key Benefits: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Secure, compliant multi-agent orchestration for back-office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Human-in-the-loop validation for sensitive financial data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Seamless integration with existing Microsoft 365 Copilot assets</a:t>
            </a:r>
          </a:p>
          <a:p xmlns:a="http://schemas.openxmlformats.org/drawingml/2006/main">
            <a:pPr lvl="0"/>
            <a:r>
              <a:rPr lang="en-US" sz="1500">
                <a:solidFill>
                  <a:schemeClr val="dk1"/>
                </a:solidFill>
                <a:latin typeface="Montserrat"/>
              </a:rPr>
              <a:t>• Auditable AI trail for every automated enterprise transaction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StrategyGroup"/>
        <p:cNvGrpSpPr/>
        <p:nvPr/>
      </p:nvGrpSpPr>
      <p:grpSpPr>
        <a:xfrm xmlns:a="http://schemas.openxmlformats.org/drawingml/2006/main"/>
      </p:grpSpPr>
      <p:sp>
        <p:nvSpPr>
          <p:cNvPr id="2" name="Shape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638"/>
            <a:ext cx="8763600" cy="9144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4400" b="1">
                <a:solidFill>
                  <a:schemeClr val="accent1"/>
                </a:solidFill>
                <a:latin typeface="Montserrat"/>
              </a:rPr>
              <a:t>Go-to-Market Strategy</a:t>
            </a:r>
          </a:p>
        </p:txBody>
      </p:sp>
      <p:sp>
        <p:nvSpPr>
          <p:cNvPr id="3" name="Shape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8763600" cy="4500000"/>
          </a:xfrm>
          <a:prstGeom xmlns:a="http://schemas.openxmlformats.org/drawingml/2006/main" prst="rect"/>
        </p:spPr>
        <p:txBody>
          <a:bodyPr xmlns:a="http://schemas.openxmlformats.org/drawingml/2006/main" wrap="square"/>
          <a:lstStyle xmlns:a="http://schemas.openxmlformats.org/drawingml/2006/main"/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Target Focus: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Cloud Cost Management (FinOps) should lead the campaign, positioned as a way to self-fund AI transformation. Agentic AI is the secondary 'future-proofing' angle for high-value operations.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Key Themes: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Reducing cloud waste by 30% to fund the AI revolution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Building governed, human-in-the-loop multi-agent systems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Why the Microsoft ecosystem is the only path for regulated AI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Moving from 'Copilot' to 'Agentic Workflows' in enterprise IT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/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Engagement Rule:</a:t>
            </a:r>
          </a:p>
          <a:p xmlns:a="http://schemas.openxmlformats.org/drawingml/2006/main">
            <a:pPr lvl="0"/>
            <a:r>
              <a:rPr lang="en-US" sz="1800">
                <a:solidFill>
                  <a:schemeClr val="dk1"/>
                </a:solidFill>
                <a:latin typeface="Montserrat"/>
              </a:rPr>
              <a:t>• Lead with FinOps ROI to fund Agentic AI pilots.</a:t>
            </a:r>
          </a:p>
        </p:txBody>
      </p:sp>
    </p:spTree>
  </p:cSld>
</p:sld>
</file>