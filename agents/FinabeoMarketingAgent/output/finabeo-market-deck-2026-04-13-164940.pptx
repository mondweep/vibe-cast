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a08eca5224da4a2f" /></Relationships>
</file>

<file path=ppt/presentation.xml><?xml version="1.0" encoding="utf-8"?>
<p:presentation xmlns:p="http://schemas.openxmlformats.org/presentationml/2006/main">
  <p:sldSz cx="12192000" cy="6858000" type="screen16x9"/>
  <p:notesSz cx="6858000" cy="9144000"/>
  <p:sldMasterIdLst>
    <p:sldMasterId xmlns:r="http://schemas.openxmlformats.org/officeDocument/2006/relationships" id="2147483648" r:id="R98051a0c556749d3"/>
  </p:sldMasterIdLst>
  <p:sldIdLst>
    <p:sldId xmlns:r="http://schemas.openxmlformats.org/officeDocument/2006/relationships" id="256" r:id="R819c90e482ec45af"/>
    <p:sldId xmlns:r="http://schemas.openxmlformats.org/officeDocument/2006/relationships" id="257" r:id="R78f1d61cfd7741cb"/>
    <p:sldId xmlns:r="http://schemas.openxmlformats.org/officeDocument/2006/relationships" id="258" r:id="R83153362bd7f40eb"/>
    <p:sldId xmlns:r="http://schemas.openxmlformats.org/officeDocument/2006/relationships" id="259" r:id="R033ec993cd684fee"/>
  </p:sldIdLst>
</p:presentation>
</file>

<file path=ppt/viewProps.xml><?xml version="1.0" encoding="utf-8"?>
<p:viewPr xmlns:p="http://schemas.openxmlformats.org/presentationml/2006/main"/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051a0c556749d3" /><Relationship Type="http://schemas.openxmlformats.org/officeDocument/2006/relationships/viewProps" Target="/ppt/viewProps.xml" Id="R60feb8b1cd0e4fe4" /><Relationship Type="http://schemas.openxmlformats.org/officeDocument/2006/relationships/slide" Target="/ppt/slides/slide1.xml" Id="R819c90e482ec45af" /><Relationship Type="http://schemas.openxmlformats.org/officeDocument/2006/relationships/slide" Target="/ppt/slides/slide2.xml" Id="R78f1d61cfd7741cb" /><Relationship Type="http://schemas.openxmlformats.org/officeDocument/2006/relationships/slide" Target="/ppt/slides/slide3.xml" Id="R83153362bd7f40eb" /><Relationship Type="http://schemas.openxmlformats.org/officeDocument/2006/relationships/slide" Target="/ppt/slides/slide4.xml" Id="R033ec993cd684fee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7349d701b7724868" /><Relationship Type="http://schemas.openxmlformats.org/officeDocument/2006/relationships/slideLayout" Target="/ppt/slideLayouts/slideLayout1.xml" Id="R3bea144c6a714e26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ea144c6a714e26"/>
  </p:sldLayoutIdLst>
  <p:txStyles/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60e7b5578948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4da1fc98ef48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725403ca104b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19bd5d2d094f9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bg>
        <p:bgPr>
          <a:solidFill xmlns:a="http://schemas.openxmlformats.org/drawingml/2006/main">
            <a:schemeClr val="accent1"/>
          </a:solidFill>
        </p:bgPr>
      </p:bg>
      <p:sp>
        <p:nvSpPr>
          <p:cNvPr id="2" name="Text Box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8229600" cy="12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6000" b="1">
                <a:solidFill>
                  <a:schemeClr val="accent1"/>
                </a:solidFill>
                <a:latin typeface="Montserrat"/>
              </a:rPr>
              <a:t>FINABEO</a:t>
            </a:r>
          </a:p>
        </p:txBody>
      </p:sp>
      <p:sp>
        <p:nvSpPr>
          <p:cNvPr id="3" name="Text Box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000"/>
            <a:ext cx="8229600" cy="20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>
                <a:solidFill>
                  <a:schemeClr val="accent1"/>
                </a:solidFill>
                <a:latin typeface="Montserrat"/>
              </a:rPr>
              <a:t>Finabeo: Market-Service Alignment</a:t>
            </a:r>
          </a:p>
        </p:txBody>
      </p:sp>
      <p:sp>
        <p:nvSpPr>
          <p:cNvPr id="4" name="Text Box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43600"/>
            <a:ext cx="8229600" cy="6858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2400">
                <a:solidFill>
                  <a:schemeClr val="accent1"/>
                </a:solidFill>
                <a:latin typeface="Montserrat"/>
              </a:rPr>
              <a:t>April 13, 2026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Box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 b="1">
                <a:solidFill>
                  <a:schemeClr val="accent1"/>
                </a:solidFill>
                <a:latin typeface="Montserrat"/>
              </a:rPr>
              <a:t>Market Insights &amp; Trends</a:t>
            </a:r>
          </a:p>
        </p:txBody>
      </p:sp>
      <p:sp>
        <p:nvSpPr>
          <p:cNvPr id="3" name="Text Box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0000"/>
            <a:ext cx="8763600" cy="24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600">
                <a:solidFill>
                  <a:schemeClr val="accent1"/>
                </a:solidFill>
                <a:latin typeface="Montserrat"/>
              </a:rPr>
              <a:t>📊 Cloud Cost Management Acceleration</a:t>
            </a:r>
          </a:p>
          <a:p xmlns:a="http://schemas.openxmlformats.org/drawingml/2006/main">
            <a:pPr lvl="0"/>
            <a:r>
              <a:rPr lang="en-US" sz="1600">
                <a:solidFill>
                  <a:schemeClr val="accent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600">
                <a:solidFill>
                  <a:schemeClr val="accent1"/>
                </a:solidFill>
                <a:latin typeface="Montserrat"/>
              </a:rPr>
              <a:t>Pain: Enterprises are spending 25-40% more than necessary on cloud resources without clear observability.</a:t>
            </a:r>
          </a:p>
          <a:p xmlns:a="http://schemas.openxmlformats.org/drawingml/2006/main">
            <a:pPr lvl="0"/>
            <a:r>
              <a:rPr lang="en-US" sz="1600">
                <a:solidFill>
                  <a:schemeClr val="accent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600">
                <a:solidFill>
                  <a:schemeClr val="accent1"/>
                </a:solidFill>
                <a:latin typeface="Montserrat"/>
              </a:rPr>
              <a:t>Opportunity: Finabeo's FinOps implementation can reduce waste by 30% in 90 days, funding future AI projects.</a:t>
            </a:r>
          </a:p>
        </p:txBody>
      </p:sp>
      <p:sp>
        <p:nvSpPr>
          <p:cNvPr id="4" name="Text Box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0000"/>
            <a:ext cx="8763600" cy="24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600">
                <a:solidFill>
                  <a:schemeClr val="accent1"/>
                </a:solidFill>
                <a:latin typeface="Montserrat"/>
              </a:rPr>
              <a:t>📊 Regulated AI Adoption (Agentic AI)</a:t>
            </a:r>
          </a:p>
          <a:p xmlns:a="http://schemas.openxmlformats.org/drawingml/2006/main">
            <a:pPr lvl="0"/>
            <a:r>
              <a:rPr lang="en-US" sz="1600">
                <a:solidFill>
                  <a:schemeClr val="accent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600">
                <a:solidFill>
                  <a:schemeClr val="accent1"/>
                </a:solidFill>
                <a:latin typeface="Montserrat"/>
              </a:rPr>
              <a:t>Pain: Banks and insurers are hesitant to deploy autonomous agents due to compliance risks.</a:t>
            </a:r>
          </a:p>
          <a:p xmlns:a="http://schemas.openxmlformats.org/drawingml/2006/main">
            <a:pPr lvl="0"/>
            <a:r>
              <a:rPr lang="en-US" sz="1600">
                <a:solidFill>
                  <a:schemeClr val="accent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600">
                <a:solidFill>
                  <a:schemeClr val="accent1"/>
                </a:solidFill>
                <a:latin typeface="Montserrat"/>
              </a:rPr>
              <a:t>Opportunity: Finabeo's 'Human-in-the-Loop' orchestration ensures every automated decision is audited and approved.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Box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 b="1">
                <a:solidFill>
                  <a:schemeClr val="accent1"/>
                </a:solidFill>
                <a:latin typeface="Montserrat"/>
              </a:rPr>
              <a:t>Finabeo Service Alignment</a:t>
            </a:r>
          </a:p>
        </p:txBody>
      </p:sp>
      <p:sp>
        <p:nvSpPr>
          <p:cNvPr id="3" name="Text Box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0000"/>
            <a:ext cx="8763600" cy="26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>✓ FinOps &amp; Cloud Cost Management (98% Fit)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>Directly addresses the #1 priority for CIOs in 2026: containing uncontrolled cloud spend and technical debt.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>Key Benefits: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>• 30%+ reduction in wasted cloud compute and storage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>• Predictable AI unit economics and performance monitoring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>• Governance-first approach to multi-cloud resource allocation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>• Real-time visibility into cost per AI-driven decision</a:t>
            </a:r>
          </a:p>
        </p:txBody>
      </p:sp>
      <p:sp>
        <p:nvSpPr>
          <p:cNvPr id="4" name="Text Box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00000"/>
            <a:ext cx="8763600" cy="26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>✓ Agentic AI Transformation (Microsoft Framework) (92% Fit)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>Transforms reactive AI search into proactive, governed agents using the Microsoft Agent Framework and Azure AI Foundry.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>Key Benefits: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>• Secure, compliant multi-agent orchestration for back-office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>• Human-in-the-loop validation for sensitive financial data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>• Seamless integration with existing Microsoft 365 Copilot assets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>• Auditable AI trail for every automated enterprise transaction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Box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 b="1">
                <a:solidFill>
                  <a:schemeClr val="accent1"/>
                </a:solidFill>
                <a:latin typeface="Montserrat"/>
              </a:rPr>
              <a:t>Go-to-Market Strategy</a:t>
            </a:r>
          </a:p>
        </p:txBody>
      </p:sp>
      <p:sp>
        <p:nvSpPr>
          <p:cNvPr id="3" name="Text Box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8763600" cy="45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>Target Focus: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>• Cloud Cost Management (FinOps) should lead the campaign, positioned as a way to self-fund AI transformation. Agentic AI is the secondary 'future-proofing' angle for high-value operations.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>Key Themes: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>• Reducing cloud waste by 30% to fund the AI revolution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>• Building governed, human-in-the-loop multi-agent systems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>• Why the Microsoft ecosystem is the only path for regulated AI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>• Moving from 'Copilot' to 'Agentic Workflows' in enterprise IT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>Engagement Rule: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>• Lead with FinOps ROI to fund Agentic AI pilots.</a:t>
            </a:r>
          </a:p>
        </p:txBody>
      </p:sp>
    </p:spTree>
  </p:cSld>
</p:sld>
</file>