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19105569cb143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b75d284c314794"/>
  </p:sldMasterIdLst>
  <p:sldIdLst>
    <p:sldId xmlns:r="http://schemas.openxmlformats.org/officeDocument/2006/relationships" id="256" r:id="R1588bd02e5ae4a1f"/>
    <p:sldId xmlns:r="http://schemas.openxmlformats.org/officeDocument/2006/relationships" id="257" r:id="Rc7e9c7ca15854a3d"/>
    <p:sldId xmlns:r="http://schemas.openxmlformats.org/officeDocument/2006/relationships" id="258" r:id="Rf9242a590f954417"/>
    <p:sldId xmlns:r="http://schemas.openxmlformats.org/officeDocument/2006/relationships" id="259" r:id="Ra44ed8fec52a4acf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>
  <p:normalViewPr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b75d284c314794" /><Relationship Type="http://schemas.openxmlformats.org/officeDocument/2006/relationships/viewProps" Target="/ppt/viewProps.xml" Id="Rc8b4cb4a14fe46c8" /><Relationship Type="http://schemas.openxmlformats.org/officeDocument/2006/relationships/presProps" Target="/ppt/presProps.xml" Id="R1153bab7fddb4052" /><Relationship Type="http://schemas.openxmlformats.org/officeDocument/2006/relationships/slide" Target="/ppt/slides/slide1.xml" Id="R1588bd02e5ae4a1f" /><Relationship Type="http://schemas.openxmlformats.org/officeDocument/2006/relationships/slide" Target="/ppt/slides/slide2.xml" Id="Rc7e9c7ca15854a3d" /><Relationship Type="http://schemas.openxmlformats.org/officeDocument/2006/relationships/slide" Target="/ppt/slides/slide3.xml" Id="Rf9242a590f954417" /><Relationship Type="http://schemas.openxmlformats.org/officeDocument/2006/relationships/slide" Target="/ppt/slides/slide4.xml" Id="Ra44ed8fec52a4ac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0a9d6ee3d44cbe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LayoutGroup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f0734efde7ae44fa" /><Relationship Type="http://schemas.openxmlformats.org/officeDocument/2006/relationships/slideLayout" Target="/ppt/slideLayouts/slideLayout1.xml" Id="R4b71c3a2155442e1" /></Relationships>
</file>

<file path=ppt/slideMasters/slideMaster1.xml><?xml version="1.0" encoding="utf-8"?>
<p:sldMaster xmlns:p="http://schemas.openxmlformats.org/presentationml/2006/main">
  <p:cSld>
    <p:spTree>
      <p:nvGrpSpPr>
        <p:cNvPr id="1" name="MasterGroup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71c3a2155442e1"/>
  </p:sldLayoutIdLst>
  <p:txStyles>
    <p:titleStyle>
      <a:lvl1pPr xmlns:a="http://schemas.openxmlformats.org/drawingml/2006/main">
        <a:defRPr lang="en-US" sz="4400"/>
      </a:lvl1pPr>
    </p:titleStyle>
    <p:bodyStyle>
      <a:lvl1pPr xmlns:a="http://schemas.openxmlformats.org/drawingml/2006/main">
        <a:defRPr lang="en-US" sz="1800"/>
      </a:lvl1pPr>
    </p:bodyStyle>
    <p:otherStyle>
      <a:lvl1pPr xmlns:a="http://schemas.openxmlformats.org/drawingml/2006/main">
        <a:defRPr lang="en-US" sz="1200"/>
      </a:lvl1pPr>
    </p:otherStyle>
  </p:txStyles>
</p:sldMaster>
</file>

<file path=ppt/slideMasters/theme/theme1.xml><?xml version="1.0" encoding="utf-8"?>
<a:theme xmlns:a="http://schemas.openxmlformats.org/drawingml/2006/main" name="Finabeo Standard">
  <a:themeElements>
    <a:clrScheme name="Finabeo Office">
      <a:dk1>
        <a:sysClr val="windowText" lastClr="000000"/>
      </a:dk1>
      <a:lt1>
        <a:sysClr val="window" lastClr="FFFFFF"/>
      </a:lt1>
      <a:dk2>
        <a:srgbClr val="1F4E78"/>
      </a:dk2>
      <a:lt2>
        <a:srgbClr val="E7E6E6"/>
      </a:lt2>
      <a:accent1>
        <a:srgbClr val="003366"/>
      </a:accent1>
      <a:accent2>
        <a:srgbClr val="00B4D8"/>
      </a:accent2>
      <a:accent3>
        <a:srgbClr val="FFB81C"/>
      </a:accent3>
      <a:accent4>
        <a:srgbClr val="A5A5A5"/>
      </a:accent4>
      <a:accent5>
        <a:srgbClr val="264478"/>
      </a:accent5>
      <a:accent6>
        <a:srgbClr val="7E9CC5"/>
      </a:accent6>
      <a:hlink>
        <a:srgbClr val="0563C1"/>
      </a:hlink>
      <a:folHlink>
        <a:srgbClr val="954F72"/>
      </a:folHlink>
    </a:clrScheme>
    <a:fontScheme name="Finabeo Fonts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Finabeo Format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6350" cap="flat" cmpd="sng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TitleGroup"/>
        <p:cNvGrpSpPr/>
        <p:nvPr/>
      </p:nvGrpSpPr>
      <p:grpSpPr>
        <a:xfrm xmlns:a="http://schemas.openxmlformats.org/drawingml/2006/main"/>
      </p:grpSpPr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914400" y="1828800"/>
            <a:ext cx="8229600" cy="12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6000" b="1">
                <a:solidFill>
                  <a:schemeClr val="lt1"/>
                </a:solidFill>
                <a:latin typeface="Montserrat"/>
              </a:rPr>
              <a:t>FINABEO</a:t>
            </a:r>
          </a:p>
        </p:txBody>
      </p:sp>
      <p:sp>
        <p:nvSpPr>
          <p:cNvPr id="3" name="Content 3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14400" y="3200000"/>
            <a:ext cx="8229600" cy="20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>
                <a:solidFill>
                  <a:schemeClr val="lt1"/>
                </a:solidFill>
                <a:latin typeface="Montserrat"/>
              </a:rPr>
              <a:t>Finabeo: Market-Service Alignment</a:t>
            </a:r>
          </a:p>
        </p:txBody>
      </p:sp>
      <p:sp>
        <p:nvSpPr>
          <p:cNvPr id="4" name="Content 4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400">
                <a:solidFill>
                  <a:schemeClr val="accent4"/>
                </a:solidFill>
                <a:latin typeface="Montserrat"/>
              </a:rPr>
              <a:t>April 13, 2026</a:t>
            </a:r>
          </a:p>
        </p:txBody>
      </p:sp>
    </p:spTree>
  </p:cSld>
</p:sld>
</file>

<file path=ppt/slides/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chemeClr val="lt1"/>
        </a:solidFill>
      </p:bgPr>
    </p:bg>
    <p:spTree>
      <p:nvGrpSpPr>
        <p:cNvPr id="1" name="InsightsGroup"/>
        <p:cNvGrpSpPr/>
        <p:nvPr/>
      </p:nvGrpSpPr>
      <p:grpSpPr>
        <a:xfrm xmlns:a="http://schemas.openxmlformats.org/drawingml/2006/main"/>
      </p:grpSpPr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</a:p>
        </p:txBody>
      </p:sp>
      <p:sp>
        <p:nvSpPr>
          <p:cNvPr id="3" name="Content 3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13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Cloud Cost Management Acceleration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Enterprises are spending 25-40% more than necessary on cloud resources without clear observability.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FinOps implementation can reduce waste by 30% in 90 days, funding future AI projects.</a:t>
            </a:r>
          </a:p>
        </p:txBody>
      </p:sp>
      <p:sp>
        <p:nvSpPr>
          <p:cNvPr id="4" name="Content 4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39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Regulated AI Adoption (Agentic AI)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Banks and insurers are hesitant to deploy autonomous agents due to compliance risks.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'Human-in-the-Loop' orchestration ensures every automated decision is audited and approved.</a:t>
            </a:r>
          </a:p>
        </p:txBody>
      </p:sp>
    </p:spTree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chemeClr val="lt1"/>
        </a:solidFill>
      </p:bgPr>
    </p:bg>
    <p:spTree>
      <p:nvGrpSpPr>
        <p:cNvPr id="1" name="AlignmentGroup"/>
        <p:cNvGrpSpPr/>
        <p:nvPr/>
      </p:nvGrpSpPr>
      <p:grpSpPr>
        <a:xfrm xmlns:a="http://schemas.openxmlformats.org/drawingml/2006/main"/>
      </p:grpSpPr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</a:p>
        </p:txBody>
      </p:sp>
      <p:sp>
        <p:nvSpPr>
          <p:cNvPr id="3" name="Content 3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13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FinOps &amp; Cloud Cost Management (98%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Directly addresses the #1 priority for CIOs in 2026: containing uncontrolled cloud spend and technical debt.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30%+ reduction in wasted cloud compute and storage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Predictable AI unit economics and performance monitoring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Governance-first approach to multi-cloud resource allocation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Real-time visibility into cost per AI-driven decision</a:t>
            </a:r>
          </a:p>
        </p:txBody>
      </p:sp>
      <p:sp>
        <p:nvSpPr>
          <p:cNvPr id="4" name="Content 4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41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Agentic AI Transformation (Microsoft Framework) (92%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Transforms reactive AI search into proactive, governed agents using the Microsoft Agent Framework and Azure AI Foundry.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Secure, compliant multi-agent orchestration for back-office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Human-in-the-loop validation for sensitive financial data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Seamless integration with existing Microsoft 365 Copilot assets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Auditable AI trail for every automated enterprise transaction</a:t>
            </a:r>
          </a:p>
        </p:txBody>
      </p:sp>
    </p:spTree>
  </p:cSld>
</p:sld>
</file>

<file path=ppt/slides/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chemeClr val="lt1"/>
        </a:solidFill>
      </p:bgPr>
    </p:bg>
    <p:spTree>
      <p:nvGrpSpPr>
        <p:cNvPr id="1" name="StrategyGroup"/>
        <p:cNvGrpSpPr/>
        <p:nvPr/>
      </p:nvGrpSpPr>
      <p:grpSpPr>
        <a:xfrm xmlns:a="http://schemas.openxmlformats.org/drawingml/2006/main"/>
      </p:grpSpPr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Go-to-Market Strategy</a:t>
            </a:r>
          </a:p>
        </p:txBody>
      </p:sp>
      <p:sp>
        <p:nvSpPr>
          <p:cNvPr id="3" name="Content 3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1371600"/>
            <a:ext cx="8763600" cy="45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Target Focus: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Cloud Cost Management (FinOps) should lead the campaign, positioned as a way to self-fund AI transformation. Agentic AI is the secondary 'future-proofing' angle for high-value operations.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Key Themes: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Reducing cloud waste by 30% to fund the AI revolution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Building governed, human-in-the-loop multi-agent systems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Why the Microsoft ecosystem is the only path for regulated AI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Moving from 'Copilot' to 'Agentic Workflows' in enterprise IT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Engagement Rule: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Lead with FinOps ROI to fund Agentic AI pilots.</a:t>
            </a:r>
          </a:p>
        </p:txBody>
      </p:sp>
    </p:spTree>
  </p:cSld>
</p:sld>
</file>