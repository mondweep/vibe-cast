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776a433210d45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56" r:id="Re52f1aa0babb4310"/>
  </p:sldMasterIdLst>
  <p:sldIdLst>
    <p:sldId xmlns:r="http://schemas.openxmlformats.org/officeDocument/2006/relationships" id="256" r:id="R2b20cd5357b04ed4"/>
    <p:sldId xmlns:r="http://schemas.openxmlformats.org/officeDocument/2006/relationships" id="257" r:id="R1b266156f07e4da1"/>
    <p:sldId xmlns:r="http://schemas.openxmlformats.org/officeDocument/2006/relationships" id="258" r:id="R8774185bb0ad4aa8"/>
    <p:sldId xmlns:r="http://schemas.openxmlformats.org/officeDocument/2006/relationships" id="259" r:id="R030b3c5a206d40ba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2f1aa0babb4310" /><Relationship Type="http://schemas.openxmlformats.org/officeDocument/2006/relationships/slide" Target="/ppt/slides/slide1.xml" Id="R2b20cd5357b04ed4" /><Relationship Type="http://schemas.openxmlformats.org/officeDocument/2006/relationships/slide" Target="/ppt/slides/slide2.xml" Id="R1b266156f07e4da1" /><Relationship Type="http://schemas.openxmlformats.org/officeDocument/2006/relationships/slide" Target="/ppt/slides/slide3.xml" Id="R8774185bb0ad4aa8" /><Relationship Type="http://schemas.openxmlformats.org/officeDocument/2006/relationships/slide" Target="/ppt/slides/slide4.xml" Id="R030b3c5a206d40ba" /></Relationships>
</file>

<file path=ppt/slideLayouts/slideLayout1.xml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47bd965c24d65" /></Relationships>
</file>

<file path=ppt/slideMasters/slideMaster1.xml>
</file>

<file path=ppt/slides/slide1.xml><?xml version="1.0" encoding="utf-8"?>
<p:sld xmlns:p="http://schemas.openxmlformats.org/presentationml/2006/main">
  <p:cSld>
    <p:spTree>
      <p:nvGrpSpPr/>
      <p:grpSpPr/>
      <p:sp>
        <p:nvSpPr>
          <p:cNvPr id="2" name="Text Box"/>
          <p:cNvSpPr>
            <a:spLocks xmlns:a="http://schemas.openxmlformats.org/drawingml/2006/main" noGrp="1"/>
          </p:cNvSpPr>
        </p:nvSpPr>
        <p:spPr>
          <a:xfrm xmlns:a="http://schemas.openxmlformats.org/drawingml/2006/main">
            <a:off x="914400" y="1828800"/>
            <a:ext cx="8229600" cy="18288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6000">
                <a:solidFill>
                  <a:schemeClr val="accent1"/>
                </a:solidFill>
                <a:latin typeface="Montserrat"/>
              </a:rPr>
              <a:t>FINABEO</a:t>
            </a:r>
          </a:p>
        </p:txBody>
      </p:sp>
      <p:sp>
        <p:nvSpPr>
          <p:cNvPr id="2" name="Text Box"/>
          <p:cNvSpPr>
            <a:spLocks xmlns:a="http://schemas.openxmlformats.org/drawingml/2006/main" noGrp="1"/>
          </p:cNvSpPr>
        </p:nvSpPr>
        <p:spPr>
          <a:xfrm xmlns:a="http://schemas.openxmlformats.org/drawingml/2006/main">
            <a:off x="914400" y="3657600"/>
            <a:ext cx="8229600" cy="27432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5400">
                <a:solidFill>
                  <a:schemeClr val="accent1"/>
                </a:solidFill>
                <a:latin typeface="Montserrat"/>
              </a:rPr>
              <a:t>Finabeo: Market-Service Alignment</a:t>
            </a:r>
          </a:p>
        </p:txBody>
      </p:sp>
      <p:sp>
        <p:nvSpPr>
          <p:cNvPr id="2" name="Text Box"/>
          <p:cNvSpPr>
            <a:spLocks xmlns:a="http://schemas.openxmlformats.org/drawingml/2006/main" noGrp="1"/>
          </p:cNvSpPr>
        </p:nvSpPr>
        <p:spPr>
          <a:xfrm xmlns:a="http://schemas.openxmlformats.org/drawingml/2006/main">
            <a:off x="914400" y="5943600"/>
            <a:ext cx="8229600" cy="6858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2400">
                <a:solidFill>
                  <a:schemeClr val="accent1"/>
                </a:solidFill>
                <a:latin typeface="Montserrat"/>
              </a:rPr>
              <a:t>April 13, 2026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/>
      <p:grpSpPr/>
      <p:sp>
        <p:nvSpPr>
          <p:cNvPr id="2" name="Text Box"/>
          <p:cNvSpPr>
            <a:spLocks xmlns:a="http://schemas.openxmlformats.org/drawingml/2006/main" noGrp="1"/>
          </p:cNvSpPr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Market Insights &amp; Trends</a:t>
            </a:r>
          </a:p>
        </p:txBody>
      </p:sp>
      <p:sp>
        <p:nvSpPr>
          <p:cNvPr id="2" name="Text Box"/>
          <p:cNvSpPr>
            <a:spLocks xmlns:a="http://schemas.openxmlformats.org/drawingml/2006/main" noGrp="1"/>
          </p:cNvSpPr>
        </p:nvSpPr>
        <p:spPr>
          <a:xfrm xmlns:a="http://schemas.openxmlformats.org/drawingml/2006/main">
            <a:off x="457200" y="1371600"/>
            <a:ext cx="8763600" cy="13716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📊 Cloud Cost Management Acceleration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Pain Point: Enterprises are spending 25-40% more than necessary on cloud resources without clear observability.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Opportunity: Finabeo's FinOps implementation can reduce waste by 30% in 90 days, funding future AI projects.</a:t>
            </a:r>
          </a:p>
        </p:txBody>
      </p:sp>
      <p:sp>
        <p:nvSpPr>
          <p:cNvPr id="2" name="Text Box"/>
          <p:cNvSpPr>
            <a:spLocks xmlns:a="http://schemas.openxmlformats.org/drawingml/2006/main" noGrp="1"/>
          </p:cNvSpPr>
        </p:nvSpPr>
        <p:spPr>
          <a:xfrm xmlns:a="http://schemas.openxmlformats.org/drawingml/2006/main">
            <a:off x="457200" y="2971800"/>
            <a:ext cx="8763600" cy="13716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📊 Regulated AI Adoption (Agentic AI)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Pain Point: Banks and insurers are hesitant to deploy autonomous agents due to compliance risks.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Opportunity: Finabeo's 'Human-in-the-Loop' orchestration ensures every automated decision is audited and approved.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/>
      <p:grpSpPr/>
      <p:sp>
        <p:nvSpPr>
          <p:cNvPr id="2" name="Text Box"/>
          <p:cNvSpPr>
            <a:spLocks xmlns:a="http://schemas.openxmlformats.org/drawingml/2006/main" noGrp="1"/>
          </p:cNvSpPr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Finabeo Service Alignment</a:t>
            </a:r>
          </a:p>
        </p:txBody>
      </p:sp>
      <p:sp>
        <p:nvSpPr>
          <p:cNvPr id="2" name="Text Box"/>
          <p:cNvSpPr>
            <a:spLocks xmlns:a="http://schemas.openxmlformats.org/drawingml/2006/main" noGrp="1"/>
          </p:cNvSpPr>
        </p:nvSpPr>
        <p:spPr>
          <a:xfrm xmlns:a="http://schemas.openxmlformats.org/drawingml/2006/main">
            <a:off x="457200" y="1371600"/>
            <a:ext cx="8763600" cy="16002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700">
                <a:solidFill>
                  <a:schemeClr val="accent1"/>
                </a:solidFill>
                <a:latin typeface="Montserrat"/>
              </a:rPr>
              <a:t>✓ FinOps &amp; Cloud Cost Management (98% Alignment)</a:t>
            </a:r>
          </a:p>
          <a:p xmlns:a="http://schemas.openxmlformats.org/drawingml/2006/main">
            <a:pPr lvl="0"/>
            <a:r>
              <a:rPr lang="en-US" sz="17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700">
                <a:solidFill>
                  <a:schemeClr val="accent1"/>
                </a:solidFill>
                <a:latin typeface="Montserrat"/>
              </a:rPr>
              <a:t>Directly addresses the #1 priority for CIOs in 2026: containing uncontrolled cloud spend and technical debt.</a:t>
            </a:r>
          </a:p>
          <a:p xmlns:a="http://schemas.openxmlformats.org/drawingml/2006/main">
            <a:pPr lvl="0"/>
            <a:r>
              <a:rPr lang="en-US" sz="17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700">
                <a:solidFill>
                  <a:schemeClr val="accent1"/>
                </a:solidFill>
                <a:latin typeface="Montserrat"/>
              </a:rPr>
              <a:t>Key Benefits:</a:t>
            </a:r>
          </a:p>
          <a:p xmlns:a="http://schemas.openxmlformats.org/drawingml/2006/main">
            <a:pPr lvl="0"/>
            <a:r>
              <a:rPr lang="en-US" sz="1700">
                <a:solidFill>
                  <a:schemeClr val="accent1"/>
                </a:solidFill>
                <a:latin typeface="Montserrat"/>
              </a:rPr>
              <a:t>• 30%+ reduction in wasted cloud compute and storage</a:t>
            </a:r>
          </a:p>
          <a:p xmlns:a="http://schemas.openxmlformats.org/drawingml/2006/main">
            <a:pPr lvl="0"/>
            <a:r>
              <a:rPr lang="en-US" sz="1700">
                <a:solidFill>
                  <a:schemeClr val="accent1"/>
                </a:solidFill>
                <a:latin typeface="Montserrat"/>
              </a:rPr>
              <a:t>• Predictable AI unit economics and performance monitoring</a:t>
            </a:r>
          </a:p>
          <a:p xmlns:a="http://schemas.openxmlformats.org/drawingml/2006/main">
            <a:pPr lvl="0"/>
            <a:r>
              <a:rPr lang="en-US" sz="1700">
                <a:solidFill>
                  <a:schemeClr val="accent1"/>
                </a:solidFill>
                <a:latin typeface="Montserrat"/>
              </a:rPr>
              <a:t>• Governance-first approach to multi-cloud resource allocation</a:t>
            </a:r>
          </a:p>
          <a:p xmlns:a="http://schemas.openxmlformats.org/drawingml/2006/main">
            <a:pPr lvl="0"/>
            <a:r>
              <a:rPr lang="en-US" sz="1700">
                <a:solidFill>
                  <a:schemeClr val="accent1"/>
                </a:solidFill>
                <a:latin typeface="Montserrat"/>
              </a:rPr>
              <a:t>• Real-time visibility into cost per AI-driven decision</a:t>
            </a:r>
          </a:p>
        </p:txBody>
      </p:sp>
      <p:sp>
        <p:nvSpPr>
          <p:cNvPr id="2" name="Text Box"/>
          <p:cNvSpPr>
            <a:spLocks xmlns:a="http://schemas.openxmlformats.org/drawingml/2006/main" noGrp="1"/>
          </p:cNvSpPr>
        </p:nvSpPr>
        <p:spPr>
          <a:xfrm xmlns:a="http://schemas.openxmlformats.org/drawingml/2006/main">
            <a:off x="457200" y="3200400"/>
            <a:ext cx="8763600" cy="16002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700">
                <a:solidFill>
                  <a:schemeClr val="accent1"/>
                </a:solidFill>
                <a:latin typeface="Montserrat"/>
              </a:rPr>
              <a:t>✓ Agentic AI Transformation (Microsoft Framework) (92% Alignment)</a:t>
            </a:r>
          </a:p>
          <a:p xmlns:a="http://schemas.openxmlformats.org/drawingml/2006/main">
            <a:pPr lvl="0"/>
            <a:r>
              <a:rPr lang="en-US" sz="17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700">
                <a:solidFill>
                  <a:schemeClr val="accent1"/>
                </a:solidFill>
                <a:latin typeface="Montserrat"/>
              </a:rPr>
              <a:t>Transforms reactive AI search into proactive, governed agents using the Microsoft Agent Framework and Azure AI Foundry.</a:t>
            </a:r>
          </a:p>
          <a:p xmlns:a="http://schemas.openxmlformats.org/drawingml/2006/main">
            <a:pPr lvl="0"/>
            <a:r>
              <a:rPr lang="en-US" sz="17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700">
                <a:solidFill>
                  <a:schemeClr val="accent1"/>
                </a:solidFill>
                <a:latin typeface="Montserrat"/>
              </a:rPr>
              <a:t>Key Benefits:</a:t>
            </a:r>
          </a:p>
          <a:p xmlns:a="http://schemas.openxmlformats.org/drawingml/2006/main">
            <a:pPr lvl="0"/>
            <a:r>
              <a:rPr lang="en-US" sz="1700">
                <a:solidFill>
                  <a:schemeClr val="accent1"/>
                </a:solidFill>
                <a:latin typeface="Montserrat"/>
              </a:rPr>
              <a:t>• Secure, compliant multi-agent orchestration for back-office</a:t>
            </a:r>
          </a:p>
          <a:p xmlns:a="http://schemas.openxmlformats.org/drawingml/2006/main">
            <a:pPr lvl="0"/>
            <a:r>
              <a:rPr lang="en-US" sz="1700">
                <a:solidFill>
                  <a:schemeClr val="accent1"/>
                </a:solidFill>
                <a:latin typeface="Montserrat"/>
              </a:rPr>
              <a:t>• Human-in-the-loop validation for sensitive financial data</a:t>
            </a:r>
          </a:p>
          <a:p xmlns:a="http://schemas.openxmlformats.org/drawingml/2006/main">
            <a:pPr lvl="0"/>
            <a:r>
              <a:rPr lang="en-US" sz="1700">
                <a:solidFill>
                  <a:schemeClr val="accent1"/>
                </a:solidFill>
                <a:latin typeface="Montserrat"/>
              </a:rPr>
              <a:t>• Seamless integration with existing Microsoft 365 Copilot assets</a:t>
            </a:r>
          </a:p>
          <a:p xmlns:a="http://schemas.openxmlformats.org/drawingml/2006/main">
            <a:pPr lvl="0"/>
            <a:r>
              <a:rPr lang="en-US" sz="1700">
                <a:solidFill>
                  <a:schemeClr val="accent1"/>
                </a:solidFill>
                <a:latin typeface="Montserrat"/>
              </a:rPr>
              <a:t>• Auditable AI trail for every automated enterprise transaction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nvGrpSpPr/>
      <p:grpSpPr/>
      <p:sp>
        <p:nvSpPr>
          <p:cNvPr id="2" name="Text Box"/>
          <p:cNvSpPr>
            <a:spLocks xmlns:a="http://schemas.openxmlformats.org/drawingml/2006/main" noGrp="1"/>
          </p:cNvSpPr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Go-to-Market Strategy</a:t>
            </a:r>
          </a:p>
        </p:txBody>
      </p:sp>
      <p:sp>
        <p:nvSpPr>
          <p:cNvPr id="2" name="Text Box"/>
          <p:cNvSpPr>
            <a:spLocks xmlns:a="http://schemas.openxmlformats.org/drawingml/2006/main" noGrp="1"/>
          </p:cNvSpPr>
        </p:nvSpPr>
        <p:spPr>
          <a:xfrm xmlns:a="http://schemas.openxmlformats.org/drawingml/2006/main">
            <a:off x="457200" y="1371600"/>
            <a:ext cx="8763600" cy="40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2000">
                <a:solidFill>
                  <a:schemeClr val="accent1"/>
                </a:solidFill>
                <a:latin typeface="Montserrat"/>
              </a:rPr>
              <a:t>Target Market Focus:</a:t>
            </a:r>
          </a:p>
          <a:p xmlns:a="http://schemas.openxmlformats.org/drawingml/2006/main">
            <a:pPr lvl="0"/>
            <a:r>
              <a:rPr lang="en-US" sz="2000">
                <a:solidFill>
                  <a:schemeClr val="accent1"/>
                </a:solidFill>
                <a:latin typeface="Montserrat"/>
              </a:rPr>
              <a:t>• Cloud Cost Management (FinOps) should lead the campaign, positioned as a way to self-fund AI transformation. Agentic AI is the secondary 'future-proofing' angle for high-value operations.</a:t>
            </a:r>
          </a:p>
          <a:p xmlns:a="http://schemas.openxmlformats.org/drawingml/2006/main">
            <a:pPr lvl="0"/>
            <a:r>
              <a:rPr lang="en-US" sz="20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2000">
                <a:solidFill>
                  <a:schemeClr val="accent1"/>
                </a:solidFill>
                <a:latin typeface="Montserrat"/>
              </a:rPr>
              <a:t>Key Themes:</a:t>
            </a:r>
          </a:p>
          <a:p xmlns:a="http://schemas.openxmlformats.org/drawingml/2006/main">
            <a:pPr lvl="0"/>
            <a:r>
              <a:rPr lang="en-US" sz="2000">
                <a:solidFill>
                  <a:schemeClr val="accent1"/>
                </a:solidFill>
                <a:latin typeface="Montserrat"/>
              </a:rPr>
              <a:t>• Reducing cloud waste by 30% to fund the AI revolution</a:t>
            </a:r>
          </a:p>
          <a:p xmlns:a="http://schemas.openxmlformats.org/drawingml/2006/main">
            <a:pPr lvl="0"/>
            <a:r>
              <a:rPr lang="en-US" sz="2000">
                <a:solidFill>
                  <a:schemeClr val="accent1"/>
                </a:solidFill>
                <a:latin typeface="Montserrat"/>
              </a:rPr>
              <a:t>• Building governed, human-in-the-loop multi-agent systems</a:t>
            </a:r>
          </a:p>
          <a:p xmlns:a="http://schemas.openxmlformats.org/drawingml/2006/main">
            <a:pPr lvl="0"/>
            <a:r>
              <a:rPr lang="en-US" sz="2000">
                <a:solidFill>
                  <a:schemeClr val="accent1"/>
                </a:solidFill>
                <a:latin typeface="Montserrat"/>
              </a:rPr>
              <a:t>• Why the Microsoft ecosystem is the only path for regulated AI</a:t>
            </a:r>
          </a:p>
          <a:p xmlns:a="http://schemas.openxmlformats.org/drawingml/2006/main">
            <a:pPr lvl="0"/>
            <a:r>
              <a:rPr lang="en-US" sz="2000">
                <a:solidFill>
                  <a:schemeClr val="accent1"/>
                </a:solidFill>
                <a:latin typeface="Montserrat"/>
              </a:rPr>
              <a:t>• Moving from 'Copilot' to 'Agentic Workflows' in enterprise IT</a:t>
            </a:r>
          </a:p>
          <a:p xmlns:a="http://schemas.openxmlformats.org/drawingml/2006/main">
            <a:pPr lvl="0"/>
            <a:r>
              <a:rPr lang="en-US" sz="20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2000">
                <a:solidFill>
                  <a:schemeClr val="accent1"/>
                </a:solidFill>
                <a:latin typeface="Montserrat"/>
              </a:rPr>
              <a:t>Engagement Rule:</a:t>
            </a:r>
          </a:p>
          <a:p xmlns:a="http://schemas.openxmlformats.org/drawingml/2006/main">
            <a:pPr lvl="0"/>
            <a:r>
              <a:rPr lang="en-US" sz="2000">
                <a:solidFill>
                  <a:schemeClr val="accent1"/>
                </a:solidFill>
                <a:latin typeface="Montserrat"/>
              </a:rPr>
              <a:t>• Lead with FinOps ROI to fund Agentic AI pilots.</a:t>
            </a:r>
          </a:p>
        </p:txBody>
      </p:sp>
    </p:spTree>
  </p:cSld>
</p:sld>
</file>