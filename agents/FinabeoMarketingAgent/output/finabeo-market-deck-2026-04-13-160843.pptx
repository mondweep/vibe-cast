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4cea30f8e684e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56" r:id="R1b56f107b6974110"/>
  </p:sldMasterIdLst>
  <p:sldIdLst>
    <p:sldId xmlns:r="http://schemas.openxmlformats.org/officeDocument/2006/relationships" id="256" r:id="R8fa611ec8f914d4d"/>
    <p:sldId xmlns:r="http://schemas.openxmlformats.org/officeDocument/2006/relationships" id="257" r:id="R3256aff697674542"/>
    <p:sldId xmlns:r="http://schemas.openxmlformats.org/officeDocument/2006/relationships" id="258" r:id="Rf73318048d8b46fa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56f107b6974110" /><Relationship Type="http://schemas.openxmlformats.org/officeDocument/2006/relationships/slide" Target="/ppt/slides/slide1.xml" Id="R8fa611ec8f914d4d" /><Relationship Type="http://schemas.openxmlformats.org/officeDocument/2006/relationships/slide" Target="/ppt/slides/slide2.xml" Id="R3256aff697674542" /><Relationship Type="http://schemas.openxmlformats.org/officeDocument/2006/relationships/slide" Target="/ppt/slides/slide3.xml" Id="Rf73318048d8b46fa" /></Relationships>
</file>

<file path=ppt/slideLayouts/slideLayout1.xml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5de4bde24463e" /></Relationships>
</file>

<file path=ppt/slideMasters/slideMaster1.xml>
</file>

<file path=ppt/slides/slide1.xml><?xml version="1.0" encoding="utf-8"?>
<p:sld xmlns:p="http://schemas.openxmlformats.org/presentationml/2006/main">
  <p:cSld>
    <p:spTree>
      <p:nvGrpSpPr/>
      <p:grpSpPr/>
      <p:sp>
        <p:nvSpPr>
          <p:cNvPr id="2" name="Text Box"/>
          <p:cNvSpPr>
            <a:spLocks xmlns:a="http://schemas.openxmlformats.org/drawingml/2006/main" noGrp="1"/>
          </p:cNvSpPr>
        </p:nvSpPr>
        <p:spPr>
          <a:xfrm xmlns:a="http://schemas.openxmlformats.org/drawingml/2006/main">
            <a:off x="914400" y="1828800"/>
            <a:ext cx="8229600" cy="18288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6000">
                <a:solidFill>
                  <a:schemeClr val="accent1"/>
                </a:solidFill>
                <a:latin typeface="Montserrat"/>
              </a:rPr>
              <a:t>FINABEO</a:t>
            </a:r>
          </a:p>
        </p:txBody>
      </p:sp>
      <p:sp>
        <p:nvSpPr>
          <p:cNvPr id="2" name="Text Box"/>
          <p:cNvSpPr>
            <a:spLocks xmlns:a="http://schemas.openxmlformats.org/drawingml/2006/main" noGrp="1"/>
          </p:cNvSpPr>
        </p:nvSpPr>
        <p:spPr>
          <a:xfrm xmlns:a="http://schemas.openxmlformats.org/drawingml/2006/main">
            <a:off x="914400" y="3657600"/>
            <a:ext cx="8229600" cy="27432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5400">
                <a:solidFill>
                  <a:schemeClr val="accent1"/>
                </a:solidFill>
                <a:latin typeface="Montserrat"/>
              </a:rPr>
              <a:t>Market Analysis &amp; Finabeo Services</a:t>
            </a:r>
          </a:p>
        </p:txBody>
      </p:sp>
      <p:sp>
        <p:nvSpPr>
          <p:cNvPr id="2" name="Text Box"/>
          <p:cNvSpPr>
            <a:spLocks xmlns:a="http://schemas.openxmlformats.org/drawingml/2006/main" noGrp="1"/>
          </p:cNvSpPr>
        </p:nvSpPr>
        <p:spPr>
          <a:xfrm xmlns:a="http://schemas.openxmlformats.org/drawingml/2006/main">
            <a:off x="914400" y="5943600"/>
            <a:ext cx="8229600" cy="6858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2400">
                <a:solidFill>
                  <a:schemeClr val="accent1"/>
                </a:solidFill>
                <a:latin typeface="Montserrat"/>
              </a:rPr>
              <a:t>April 13, 2026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/>
      <p:grpSpPr/>
      <p:sp>
        <p:nvSpPr>
          <p:cNvPr id="2" name="Text Box"/>
          <p:cNvSpPr>
            <a:spLocks xmlns:a="http://schemas.openxmlformats.org/drawingml/2006/main" noGrp="1"/>
          </p:cNvSpPr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Market Insights &amp; Trends</a:t>
            </a:r>
          </a:p>
        </p:txBody>
      </p:sp>
      <p:sp>
        <p:nvSpPr>
          <p:cNvPr id="2" name="Text Box"/>
          <p:cNvSpPr>
            <a:spLocks xmlns:a="http://schemas.openxmlformats.org/drawingml/2006/main" noGrp="1"/>
          </p:cNvSpPr>
        </p:nvSpPr>
        <p:spPr>
          <a:xfrm xmlns:a="http://schemas.openxmlformats.org/drawingml/2006/main">
            <a:off x="457200" y="1371600"/>
            <a:ext cx="8763600" cy="13716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📊 Cloud Cost Optimization
Pain Point: Enterprises waste 25-40% on cloud resources
Opportunity: Need for FinOps consulting and optimization tools</a:t>
            </a:r>
          </a:p>
        </p:txBody>
      </p:sp>
      <p:sp>
        <p:nvSpPr>
          <p:cNvPr id="2" name="Text Box"/>
          <p:cNvSpPr>
            <a:spLocks xmlns:a="http://schemas.openxmlformats.org/drawingml/2006/main" noGrp="1"/>
          </p:cNvSpPr>
        </p:nvSpPr>
        <p:spPr>
          <a:xfrm xmlns:a="http://schemas.openxmlformats.org/drawingml/2006/main">
            <a:off x="457200" y="2971800"/>
            <a:ext cx="8763600" cy="13716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📊 Agentic AI Adoption
Pain Point: Organizations struggle with safe AI deployment in regulated environments
Opportunity: Demand for human-in-the-loop, governed AI solutions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/>
      <p:grpSpPr/>
      <p:sp>
        <p:nvSpPr>
          <p:cNvPr id="2" name="Text Box"/>
          <p:cNvSpPr>
            <a:spLocks xmlns:a="http://schemas.openxmlformats.org/drawingml/2006/main" noGrp="1"/>
          </p:cNvSpPr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Finabeo Service Alignment</a:t>
            </a:r>
          </a:p>
        </p:txBody>
      </p:sp>
      <p:sp>
        <p:nvSpPr>
          <p:cNvPr id="2" name="Text Box"/>
          <p:cNvSpPr>
            <a:spLocks xmlns:a="http://schemas.openxmlformats.org/drawingml/2006/main" noGrp="1"/>
          </p:cNvSpPr>
        </p:nvSpPr>
        <p:spPr>
          <a:xfrm xmlns:a="http://schemas.openxmlformats.org/drawingml/2006/main">
            <a:off x="457200" y="1371600"/>
            <a:ext cx="8763600" cy="16002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700">
                <a:solidFill>
                  <a:schemeClr val="accent1"/>
                </a:solidFill>
                <a:latin typeface="Montserrat"/>
              </a:rPr>
              <a:t>✓ Cloud Cost Management (95% Alignment)
Directly addresses the 25-40% cloud waste pain point enterprises are facing
Key Benefits:
• Measurable savings
• Fast ROI
• Governance focus</a:t>
            </a:r>
          </a:p>
        </p:txBody>
      </p:sp>
      <p:sp>
        <p:nvSpPr>
          <p:cNvPr id="2" name="Text Box"/>
          <p:cNvSpPr>
            <a:spLocks xmlns:a="http://schemas.openxmlformats.org/drawingml/2006/main" noGrp="1"/>
          </p:cNvSpPr>
        </p:nvSpPr>
        <p:spPr>
          <a:xfrm xmlns:a="http://schemas.openxmlformats.org/drawingml/2006/main">
            <a:off x="457200" y="3200400"/>
            <a:ext cx="8763600" cy="16002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700">
                <a:solidFill>
                  <a:schemeClr val="accent1"/>
                </a:solidFill>
                <a:latin typeface="Montserrat"/>
              </a:rPr>
              <a:t>✓ Agentic AI Transformation (88% Alignment)
Addresses the challenge of safe AI adoption in regulated environments
Key Benefits:
• Human-in-the-loop
• Compliance-ready
• Enterprise governance</a:t>
            </a:r>
          </a:p>
        </p:txBody>
      </p:sp>
    </p:spTree>
  </p:cSld>
</p:sld>
</file>